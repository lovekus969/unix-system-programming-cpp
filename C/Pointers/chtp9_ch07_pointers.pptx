
<file path=[Content_Types].xml><?xml version="1.0" encoding="utf-8"?>
<Types xmlns="http://schemas.openxmlformats.org/package/2006/content-types">
  <Default Extension="bin" ContentType="application/vnd.openxmlformats-officedocument.oleObject"/>
  <Default Extension="fntdata" ContentType="application/x-fontdata"/>
  <Default Extension="jp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 id="2147483659" r:id="rId2"/>
  </p:sldMasterIdLst>
  <p:notesMasterIdLst>
    <p:notesMasterId r:id="rId48"/>
  </p:notesMasterIdLst>
  <p:handoutMasterIdLst>
    <p:handoutMasterId r:id="rId49"/>
  </p:handoutMasterIdLst>
  <p:sldIdLst>
    <p:sldId id="415" r:id="rId3"/>
    <p:sldId id="416" r:id="rId4"/>
    <p:sldId id="451" r:id="rId5"/>
    <p:sldId id="452" r:id="rId6"/>
    <p:sldId id="417" r:id="rId7"/>
    <p:sldId id="453" r:id="rId8"/>
    <p:sldId id="454" r:id="rId9"/>
    <p:sldId id="455" r:id="rId10"/>
    <p:sldId id="456" r:id="rId11"/>
    <p:sldId id="457" r:id="rId12"/>
    <p:sldId id="418" r:id="rId13"/>
    <p:sldId id="458" r:id="rId14"/>
    <p:sldId id="459" r:id="rId15"/>
    <p:sldId id="460" r:id="rId16"/>
    <p:sldId id="461" r:id="rId17"/>
    <p:sldId id="462" r:id="rId18"/>
    <p:sldId id="474" r:id="rId19"/>
    <p:sldId id="463" r:id="rId20"/>
    <p:sldId id="464" r:id="rId21"/>
    <p:sldId id="465" r:id="rId22"/>
    <p:sldId id="466" r:id="rId23"/>
    <p:sldId id="475" r:id="rId24"/>
    <p:sldId id="476" r:id="rId25"/>
    <p:sldId id="477" r:id="rId26"/>
    <p:sldId id="478" r:id="rId27"/>
    <p:sldId id="479" r:id="rId28"/>
    <p:sldId id="480" r:id="rId29"/>
    <p:sldId id="481" r:id="rId30"/>
    <p:sldId id="425" r:id="rId31"/>
    <p:sldId id="431" r:id="rId32"/>
    <p:sldId id="432" r:id="rId33"/>
    <p:sldId id="433" r:id="rId34"/>
    <p:sldId id="503" r:id="rId35"/>
    <p:sldId id="434" r:id="rId36"/>
    <p:sldId id="435" r:id="rId37"/>
    <p:sldId id="436" r:id="rId38"/>
    <p:sldId id="437" r:id="rId39"/>
    <p:sldId id="438" r:id="rId40"/>
    <p:sldId id="439" r:id="rId41"/>
    <p:sldId id="440" r:id="rId42"/>
    <p:sldId id="441" r:id="rId43"/>
    <p:sldId id="442" r:id="rId44"/>
    <p:sldId id="446" r:id="rId45"/>
    <p:sldId id="447" r:id="rId46"/>
    <p:sldId id="450" r:id="rId47"/>
  </p:sldIdLst>
  <p:sldSz cx="9144000" cy="6858000" type="screen4x3"/>
  <p:notesSz cx="6858000" cy="9144000"/>
  <p:embeddedFontLst>
    <p:embeddedFont>
      <p:font typeface="Consolas" panose="020B0609020204030204" pitchFamily="49" charset="0"/>
      <p:regular r:id="rId50"/>
      <p:bold r:id="rId51"/>
      <p:italic r:id="rId52"/>
      <p:boldItalic r:id="rId53"/>
    </p:embeddedFont>
    <p:embeddedFont>
      <p:font typeface="Noto Sans Symbols" panose="020B0604020202020204" charset="0"/>
      <p:regular r:id="rId54"/>
      <p:bold r:id="rId55"/>
      <p:italic r:id="rId56"/>
      <p:boldItalic r:id="rId57"/>
    </p:embeddedFont>
    <p:embeddedFont>
      <p:font typeface="Verdana" panose="020B0604030504040204" pitchFamily="34" charset="0"/>
      <p:regular r:id="rId58"/>
      <p:bold r:id="rId59"/>
      <p:italic r:id="rId60"/>
      <p:boldItalic r:id="rId6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997" userDrawn="1">
          <p15:clr>
            <a:srgbClr val="A4A3A4"/>
          </p15:clr>
        </p15:guide>
        <p15:guide id="2" pos="363" userDrawn="1">
          <p15:clr>
            <a:srgbClr val="A4A3A4"/>
          </p15:clr>
        </p15:guide>
        <p15:guide id="3" orient="horz" pos="4178" userDrawn="1">
          <p15:clr>
            <a:srgbClr val="A4A3A4"/>
          </p15:clr>
        </p15:guide>
        <p15:guide id="4" orient="horz" pos="119" userDrawn="1">
          <p15:clr>
            <a:srgbClr val="A4A3A4"/>
          </p15:clr>
        </p15:guide>
        <p15:guide id="5" orient="horz" pos="709" userDrawn="1">
          <p15:clr>
            <a:srgbClr val="A4A3A4"/>
          </p15:clr>
        </p15:guide>
        <p15:guide id="6" orient="horz" pos="1049" userDrawn="1">
          <p15:clr>
            <a:srgbClr val="A4A3A4"/>
          </p15:clr>
        </p15:guide>
        <p15:guide id="7" pos="635"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 id="6" name="AnnMarie Short" initials="AS" lastIdx="35" clrIdx="6">
    <p:extLst>
      <p:ext uri="{19B8F6BF-5375-455C-9EA6-DF929625EA0E}">
        <p15:presenceInfo xmlns:p15="http://schemas.microsoft.com/office/powerpoint/2012/main" userId="5a9a73d1263ca8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681" autoAdjust="0"/>
    <p:restoredTop sz="82374" autoAdjust="0"/>
  </p:normalViewPr>
  <p:slideViewPr>
    <p:cSldViewPr snapToGrid="0" snapToObjects="1">
      <p:cViewPr varScale="1">
        <p:scale>
          <a:sx n="53" d="100"/>
          <a:sy n="53" d="100"/>
        </p:scale>
        <p:origin x="1696" y="48"/>
      </p:cViewPr>
      <p:guideLst>
        <p:guide orient="horz" pos="3997"/>
        <p:guide pos="363"/>
        <p:guide orient="horz" pos="4178"/>
        <p:guide orient="horz" pos="119"/>
        <p:guide orient="horz" pos="709"/>
        <p:guide orient="horz" pos="1049"/>
        <p:guide pos="635"/>
      </p:guideLst>
    </p:cSldViewPr>
  </p:slideViewPr>
  <p:outlineViewPr>
    <p:cViewPr>
      <p:scale>
        <a:sx n="33" d="100"/>
        <a:sy n="33" d="100"/>
      </p:scale>
      <p:origin x="0" y="-155286"/>
    </p:cViewPr>
  </p:outlineViewPr>
  <p:notesTextViewPr>
    <p:cViewPr>
      <p:scale>
        <a:sx n="100" d="100"/>
        <a:sy n="100" d="100"/>
      </p:scale>
      <p:origin x="0" y="0"/>
    </p:cViewPr>
  </p:notesTextViewPr>
  <p:sorterViewPr>
    <p:cViewPr>
      <p:scale>
        <a:sx n="100" d="100"/>
        <a:sy n="100" d="100"/>
      </p:scale>
      <p:origin x="0" y="-3346"/>
    </p:cViewPr>
  </p:sorterViewPr>
  <p:notesViewPr>
    <p:cSldViewPr snapToGrid="0" snapToObjects="1">
      <p:cViewPr varScale="1">
        <p:scale>
          <a:sx n="84" d="100"/>
          <a:sy n="84" d="100"/>
        </p:scale>
        <p:origin x="3828" y="9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font" Target="fonts/font1.fntdata"/><Relationship Id="rId55" Type="http://schemas.openxmlformats.org/officeDocument/2006/relationships/font" Target="fonts/font6.fntdata"/><Relationship Id="rId63"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font" Target="fonts/font4.fntdata"/><Relationship Id="rId58" Type="http://schemas.openxmlformats.org/officeDocument/2006/relationships/font" Target="fonts/font9.fntdata"/><Relationship Id="rId66" Type="http://schemas.openxmlformats.org/officeDocument/2006/relationships/tableStyles" Target="tableStyles.xml"/><Relationship Id="rId5" Type="http://schemas.openxmlformats.org/officeDocument/2006/relationships/slide" Target="slides/slide3.xml"/><Relationship Id="rId61" Type="http://schemas.openxmlformats.org/officeDocument/2006/relationships/font" Target="fonts/font12.fntdata"/><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notesMaster" Target="notesMasters/notesMaster1.xml"/><Relationship Id="rId56" Type="http://schemas.openxmlformats.org/officeDocument/2006/relationships/font" Target="fonts/font7.fntdata"/><Relationship Id="rId64"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font" Target="fonts/font2.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font" Target="fonts/font10.fntdata"/><Relationship Id="rId67" Type="http://schemas.microsoft.com/office/2016/11/relationships/changesInfo" Target="changesInfos/changesInfo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font" Target="fonts/font5.fntdata"/><Relationship Id="rId62"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handoutMaster" Target="handoutMasters/handoutMaster1.xml"/><Relationship Id="rId57" Type="http://schemas.openxmlformats.org/officeDocument/2006/relationships/font" Target="fonts/font8.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font" Target="fonts/font3.fntdata"/><Relationship Id="rId60" Type="http://schemas.openxmlformats.org/officeDocument/2006/relationships/font" Target="fonts/font11.fntdata"/><Relationship Id="rId65"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jendran, Radhakrishnan" userId="S::radhakrishnan.rajendran@pearson.com::d3835bcd-5615-4d2c-9101-e15f41dc4a5d" providerId="AD" clId="Web-{A9E32DD2-036F-2B40-7CD5-1DA06A352A65}"/>
    <pc:docChg chg="modSld">
      <pc:chgData name="Rajendran, Radhakrishnan" userId="S::radhakrishnan.rajendran@pearson.com::d3835bcd-5615-4d2c-9101-e15f41dc4a5d" providerId="AD" clId="Web-{A9E32DD2-036F-2B40-7CD5-1DA06A352A65}" dt="2021-08-20T07:51:05.654" v="3" actId="1076"/>
      <pc:docMkLst>
        <pc:docMk/>
      </pc:docMkLst>
      <pc:sldChg chg="modSp">
        <pc:chgData name="Rajendran, Radhakrishnan" userId="S::radhakrishnan.rajendran@pearson.com::d3835bcd-5615-4d2c-9101-e15f41dc4a5d" providerId="AD" clId="Web-{A9E32DD2-036F-2B40-7CD5-1DA06A352A65}" dt="2021-08-20T07:51:05.654" v="3" actId="1076"/>
        <pc:sldMkLst>
          <pc:docMk/>
          <pc:sldMk cId="2159247061" sldId="399"/>
        </pc:sldMkLst>
        <pc:graphicFrameChg chg="mod">
          <ac:chgData name="Rajendran, Radhakrishnan" userId="S::radhakrishnan.rajendran@pearson.com::d3835bcd-5615-4d2c-9101-e15f41dc4a5d" providerId="AD" clId="Web-{A9E32DD2-036F-2B40-7CD5-1DA06A352A65}" dt="2021-08-20T07:51:00.638" v="1" actId="1076"/>
          <ac:graphicFrameMkLst>
            <pc:docMk/>
            <pc:sldMk cId="2159247061" sldId="399"/>
            <ac:graphicFrameMk id="16" creationId="{00000000-0000-0000-0000-000000000000}"/>
          </ac:graphicFrameMkLst>
        </pc:graphicFrameChg>
        <pc:graphicFrameChg chg="mod">
          <ac:chgData name="Rajendran, Radhakrishnan" userId="S::radhakrishnan.rajendran@pearson.com::d3835bcd-5615-4d2c-9101-e15f41dc4a5d" providerId="AD" clId="Web-{A9E32DD2-036F-2B40-7CD5-1DA06A352A65}" dt="2021-08-20T07:51:05.654" v="3" actId="1076"/>
          <ac:graphicFrameMkLst>
            <pc:docMk/>
            <pc:sldMk cId="2159247061" sldId="399"/>
            <ac:graphicFrameMk id="20" creationId="{00000000-0000-0000-0000-000000000000}"/>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12/5/2023</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effectLst/>
                <a:latin typeface="Arial"/>
                <a:ea typeface="Arial"/>
                <a:cs typeface="Arial"/>
                <a:sym typeface="Arial"/>
              </a:rPr>
              <a:t>Part 1: A box contains a value 7 and is labeled count. The name count directly references a variable that contains the value 7. Part 2: A box labeled count P t r is to the left of the box labeled count that contains a value 7. An arrow from the left box points to the right box. The pointer count P t r indirectly references a variable that contains the value 7.</a:t>
            </a:r>
            <a:r>
              <a:rPr lang="en-US" dirty="0"/>
              <a:t> </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7952698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23171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effectLst/>
                <a:latin typeface="Arial"/>
                <a:ea typeface="Arial"/>
                <a:cs typeface="Arial"/>
                <a:sym typeface="Arial"/>
              </a:rPr>
              <a:t>A pointer variable labeled y P t r is stored at memory location 500000 with a value 600000 in the memory block. An integer variable labeled y is stored at memory location 600000 with the value 5 in the memory block.</a:t>
            </a:r>
            <a:r>
              <a:rPr lang="en-US" dirty="0"/>
              <a:t> </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2199599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752493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effectLst/>
                <a:latin typeface="Arial"/>
                <a:ea typeface="Arial"/>
                <a:cs typeface="Arial"/>
                <a:sym typeface="Arial"/>
              </a:rPr>
              <a:t>Before main calls cube By Value: The figure contains 4 lines of C code that reads as follows: Line 1 at indentation level 0, int main open parenthesis void close parenthesis open curly bracket. Line 2 at indentation level 1, int number equals 5 semicolon. Line 3 at indentation level 1, number equals cube By Value open parenthesis number close parenthesis semicolon. Line 4 at indentation level 0, close curly bracket. The integer number 5 passed as the value is depicted on the right side in a memory block.</a:t>
            </a:r>
            <a:r>
              <a:rPr lang="en-US" dirty="0"/>
              <a:t> </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503881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effectLst/>
                <a:latin typeface="Arial"/>
                <a:ea typeface="Arial"/>
                <a:cs typeface="Arial"/>
                <a:sym typeface="Arial"/>
              </a:rPr>
              <a:t>After cube By Value receives the call: Part 1 contains 4 lines of C code that reads as follows: Line 1 at indentation level 0, int main open parenthesis void close parenthesis open curly bracket. Line 2 at indentation level 1, int number equals 5 semicolon. Line 3 at indentation level 1, number equals cube By Value open parenthesis number close parenthesis semicolon. Line 4 at indentation level 0, close curly bracket. The integer number 5 passed as the value is depicted on the right side in a memory block. Part 2 contains 3 lines of C code that reads as follows: Line 1 at indentation level 0, int cube By Value open parenthesis int n close parenthesis open curly bracket. Line 2 at indentation level 1, return n asterisk n asterisk n semicolon. Line 3 at indentation level 0, close curly bracket. The integer number 5 received as n is depicted on the lower right side in a memory block.</a:t>
            </a:r>
            <a:r>
              <a:rPr lang="en-US" dirty="0"/>
              <a:t> </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8584734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effectLst/>
                <a:latin typeface="Arial"/>
                <a:ea typeface="Arial"/>
                <a:cs typeface="Arial"/>
                <a:sym typeface="Arial"/>
              </a:rPr>
              <a:t>After cube By Value cubes parameter n and before cube By Value returns to main: Part 1 contains 4 lines of C code that reads as follows: Line 1 at indentation level 0, int main open parenthesis void close parenthesis open curly bracket. Line 2 at indentation level 1, int number equals 5 semicolon. Line 3 at indentation level 1, number equals cube By Value open parenthesis number close parenthesis semicolon. Line 4 at indentation level 0, close curly bracket. The integer number 5 passed as the value is depicted on the right side in a memory block. Part 2 contains 3 lines of C code that reads as follows: Line 1 at indentation level 0, int cube By Value open parenthesis int n close parenthesis open curly bracket. Line 2 at indentation level 1, return n asterisk n asterisk n semicolon. Line 3 at indentation level 0, close curly bracket. The integer number 5 received as n is depicted at the lower right in a memory block. The value of n asterisk n asterisk n is shown above Line 2 as 125.</a:t>
            </a:r>
            <a:r>
              <a:rPr lang="en-US" dirty="0"/>
              <a:t> </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1679320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effectLst/>
                <a:latin typeface="Arial"/>
                <a:ea typeface="Arial"/>
                <a:cs typeface="Arial"/>
                <a:sym typeface="Arial"/>
              </a:rPr>
              <a:t>After cube By Value returns to main and before assigning the result to number: The figure contains 4 lines of C code that reads as follows: Line 1 at indentation level 0, int main open parenthesis void close parenthesis open curly bracket. Line 2 at indentation level 1, int number equals 5 semicolon. Line 3 at indentation level 1, number equals cube By Value open parenthesis number close parenthesis semicolon. Line 4 at indentation level 0, close curly bracket. The integer number 5 passed as the value is depicted on the right side in a memory block. The value 125 is shown above the function cube By Value.</a:t>
            </a:r>
            <a:r>
              <a:rPr lang="en-US" dirty="0"/>
              <a:t> </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4487945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effectLst/>
                <a:latin typeface="Arial"/>
                <a:ea typeface="Arial"/>
                <a:cs typeface="Arial"/>
                <a:sym typeface="Arial"/>
              </a:rPr>
              <a:t>After main completes the assignment to number: The figure contains 4 lines of C code that reads as follows: Line 1 at indentation level 0, int main open parenthesis void close parenthesis open curly bracket. Line 2 at indentation level 1, int number equals 5 semicolon. Line 3 at indentation level 1, number equals cube By Value open parenthesis number close parenthesis semicolon. Line 4 at indentation level 0, close curly bracket. The new assigned value of 125 to the integer number is depicted on the right side in a memory block. The value 125 is shown above the function cube By Value and the number in line 3.</a:t>
            </a:r>
            <a:r>
              <a:rPr lang="en-US" dirty="0"/>
              <a:t> </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292410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effectLst/>
                <a:latin typeface="Arial"/>
                <a:ea typeface="Arial"/>
                <a:cs typeface="Arial"/>
                <a:sym typeface="Arial"/>
              </a:rPr>
              <a:t>Before main calls cube By Reference: The figure contains 4 lines of C code that reads as follows: Line 1 at indentation level 0, int main open parenthesis void close parenthesis open curly bracket. Line 2 at indentation level 1, int number equals 5 semicolon. Line 3 at indentation level 1, cube By Reference open parenthesis ampersand number close parenthesis semicolon. Line 4 at indentation level 0, close curly bracket. The integer number 5 passed as the reference is depicted on the right side in a memory block.</a:t>
            </a:r>
            <a:r>
              <a:rPr lang="en-US" dirty="0"/>
              <a:t> </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6311527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effectLst/>
                <a:latin typeface="Arial"/>
                <a:ea typeface="Arial"/>
                <a:cs typeface="Arial"/>
                <a:sym typeface="Arial"/>
              </a:rPr>
              <a:t>After cube By Reference receives the call and before asterisk n P t r is cubed: Part 1 contains 4 lines of C code that reads as follows: Line 1 at indentation level 0, int main open parenthesis void close parenthesis open curly bracket. Line 2 at indentation level 1, int number equals 5 semicolon. Line 3 at indentation level 1, cube By Reference open parenthesis ampersand number close parenthesis semicolon. Line 4 at indentation level 0, close curly bracket. The integer number 5 passed as the reference is depicted on the right side in a memory block. Part 2 contains 4 lines of C code that reads as follows: Line 1 at indentation level 0, void cube By Reference open parenthesis int asterisk n P t r close parenthesis. Line 2 at indentation level 0, open curly bracket. Line 3 at indentation level 1, asterisk n P t r equals asterisk n P t r asterisk asterisk n P t r asterisk asterisk n P t r. Line 4 at indentation level 0, close curly bracket. A memory block labeled n P t r on the lower right side points to the memory block in part 1. The pointer arrow is labeled call establishes this pointer.</a:t>
            </a:r>
            <a:r>
              <a:rPr lang="en-US" dirty="0"/>
              <a:t> </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9011324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effectLst/>
                <a:latin typeface="Arial"/>
                <a:ea typeface="Arial"/>
                <a:cs typeface="Arial"/>
                <a:sym typeface="Arial"/>
              </a:rPr>
              <a:t>After asterisk n P t r is cubed and before program control returns to main: Part 1 contains 4 lines of C code that reads as follows: Line 1 at indentation level 0, int main open parenthesis void close parenthesis open curly bracket. Line 2 at indentation level 1, int number equals 5 semicolon. Line 3 at indentation level 1, cube By Reference open parenthesis ampersand number close parenthesis semicolon. Line 4 at indentation level 0, close curly bracket. The integer number 125 returned to the main is depicted to the right side in a memory block. Part 2 contains 4 lines of C code that reads as follows: Line 1 at indentation level 0, Void cube By Reference open parenthesis int asterisk n P t r close parenthesis. Line 2 at indentation level 0, open curly bracket. Line 3 at indentation level 1, asterisk n P t r equals asterisk n P t r asterisk asterisk n P t r asterisk asterisk n P t r. Line 4 at indentation level 0, close curly bracket. A memory block labeled n P t r on the lower right side points to the memory block in part 1. The pointer arrow is labeled called function modifies caller’s variable. The value 125 is shown above line 3.</a:t>
            </a:r>
            <a:r>
              <a:rPr lang="en-US" dirty="0"/>
              <a:t> </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3618919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effectLst/>
                <a:latin typeface="Arial"/>
                <a:ea typeface="Arial"/>
                <a:cs typeface="Arial"/>
                <a:sym typeface="Arial"/>
              </a:rPr>
              <a:t>The array shown as boxes has a length of 5. The elements in each box of the array from left to right are v open square bracket 0 close square bracket to v open square bracket 4 close square bracket. The locations of the boxes from left to right are 3000, 3004, 3008, 3012, and 3016, respectively. An arrow from a box labeled pointer variable v P t r points to location 3000.</a:t>
            </a:r>
            <a:r>
              <a:rPr lang="en-US" dirty="0"/>
              <a:t> </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3365918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effectLst/>
                <a:latin typeface="Arial"/>
                <a:ea typeface="Arial"/>
                <a:cs typeface="Arial"/>
                <a:sym typeface="Arial"/>
              </a:rPr>
              <a:t>The array shown as boxes has a length of 5. The elements in each box of the array from left to right are v open square bracket 0 close square bracket to v open square bracket 4 close square bracket. The locations of the boxes from left to right are 3000, 3004, 3008, 3012, and 3016, respectively. An arrow from a box labeled pointer variable v P t r points to location 3008.</a:t>
            </a:r>
            <a:r>
              <a:rPr lang="en-US" dirty="0"/>
              <a:t> </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4147518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3452506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effectLst/>
                <a:latin typeface="Arial"/>
                <a:ea typeface="Arial"/>
                <a:cs typeface="Arial"/>
                <a:sym typeface="Arial"/>
              </a:rPr>
              <a:t>The array has four elements labeled suit open square bracket 0 close square bracket to suit open square bracket 3 close square bracket and is shown as a column to the left. Each of the elements points to the first element of an array each on the right. The elements in these arrays are each within open single quote and close single quote to depict that they are characters. Suit open square bracket 0 close square bracket points to an array of length 7 with values labeled 'H' 'e' 'a' 'r' 't' 's' 'backslash 0'. Suit open square bracket 1 close square bracket points to an array of length 9 with values labeled 'D' 'i' 'a' 'm' 'o' 'n' 'd' 's' 'backslash 0'. Suit open square bracket 2 close square bracket points to an array of length 6 with values labeled 'C' 'l' 'u' 'b' 's' 'backslash 0'. Suit open square bracket 3 close square bracket points to an array of length 7 with values labeled 'S' 'p' 'a' 'd' 'e' 's' 'backslash 0'.</a:t>
            </a:r>
            <a:r>
              <a:rPr lang="en-US" dirty="0"/>
              <a:t> </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7313725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ctr"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958098"/>
            <a:ext cx="8229600" cy="478970"/>
          </a:xfrm>
          <a:prstGeom prst="rect">
            <a:avLst/>
          </a:prstGeom>
          <a:noFill/>
          <a:ln>
            <a:noFill/>
          </a:ln>
        </p:spPr>
        <p:txBody>
          <a:bodyPr lIns="91425" tIns="91425" rIns="91425" bIns="91425" anchor="ctr"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lgn="ctr">
              <a:buNone/>
              <a:defRPr sz="3000" b="1">
                <a:latin typeface="+mn-lt"/>
              </a:defRPr>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0" indent="0" algn="ctr">
              <a:buNone/>
              <a:defRPr sz="2200">
                <a:latin typeface="+mn-lt"/>
              </a:defRPr>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1" orient="horz" pos="4176"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mn-lt"/>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4215940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on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458689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648757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61030" y="1556326"/>
            <a:ext cx="3631545" cy="452062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1563574"/>
            <a:ext cx="4452258"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243595" y="3977558"/>
            <a:ext cx="4443205" cy="2112272"/>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69483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66603" y="1552575"/>
            <a:ext cx="2595602"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3290555"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6091197"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2572593"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687986"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6803378"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and Sev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8229600"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8229600" cy="55218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8229600"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8229600"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8229600"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8229600"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8229600"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447121803"/>
      </p:ext>
    </p:extLst>
  </p:cSld>
  <p:clrMapOvr>
    <a:masterClrMapping/>
  </p:clrMapOvr>
  <p:extLst>
    <p:ext uri="{DCECCB84-F9BA-43D5-87BE-67443E8EF086}">
      <p15:sldGuideLst xmlns:p15="http://schemas.microsoft.com/office/powerpoint/2012/main">
        <p15:guide id="1" orient="horz" pos="981"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4011769"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4011769" cy="55218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4011769"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4011769"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4011769"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622801" y="1557338"/>
            <a:ext cx="4064000" cy="4651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622800" y="2216150"/>
            <a:ext cx="4064000" cy="5524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622800" y="2952750"/>
            <a:ext cx="4064000" cy="5254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622800" y="3641725"/>
            <a:ext cx="4064000" cy="52387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622800" y="4352925"/>
            <a:ext cx="4064000"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713288" y="5010150"/>
            <a:ext cx="3973512"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713288" y="5692775"/>
            <a:ext cx="3973512"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8723671"/>
      </p:ext>
    </p:extLst>
  </p:cSld>
  <p:clrMapOvr>
    <a:masterClrMapping/>
  </p:clrMapOvr>
  <p:extLst>
    <p:ext uri="{DCECCB84-F9BA-43D5-87BE-67443E8EF086}">
      <p15:sldGuideLst xmlns:p15="http://schemas.microsoft.com/office/powerpoint/2012/main">
        <p15:guide id="1" orient="horz" pos="981"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41479"/>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64404"/>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102487"/>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558412"/>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p:nvPr>
        </p:nvSpPr>
        <p:spPr>
          <a:xfrm>
            <a:off x="5048250" y="1558412"/>
            <a:ext cx="3638550" cy="37544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420799"/>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2" Type="http://schemas.openxmlformats.org/officeDocument/2006/relationships/slideLayout" Target="../slideLayouts/slideLayout3.xml"/><Relationship Id="rId16"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theme" Target="../theme/theme2.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6" name="Copyright"/>
          <p:cNvSpPr txBox="1"/>
          <p:nvPr/>
        </p:nvSpPr>
        <p:spPr>
          <a:xfrm>
            <a:off x="1600200" y="6429344"/>
            <a:ext cx="7162799" cy="200054"/>
          </a:xfrm>
          <a:prstGeom prst="rect">
            <a:avLst/>
          </a:prstGeom>
          <a:noFill/>
          <a:ln>
            <a:noFill/>
          </a:ln>
        </p:spPr>
        <p:txBody>
          <a:bodyPr lIns="91425" tIns="45700" rIns="91425" bIns="45700" anchor="ctr" anchorCtr="0">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a:t>
            </a:r>
            <a:r>
              <a:rPr lang="en-IN" sz="1200" b="0" i="0" u="none" strike="noStrike" cap="none" dirty="0">
                <a:solidFill>
                  <a:srgbClr val="000000"/>
                </a:solidFill>
                <a:effectLst/>
                <a:latin typeface="Verdana" panose="020B0604030504040204" pitchFamily="34" charset="0"/>
                <a:ea typeface="Verdana" panose="020B0604030504040204" pitchFamily="34" charset="0"/>
                <a:cs typeface="Arial"/>
                <a:sym typeface="Arial"/>
              </a:rPr>
              <a:t>2022</a:t>
            </a:r>
            <a:r>
              <a:rPr lang="en-US" altLang="en-US" sz="1200" b="0" dirty="0">
                <a:latin typeface="Verdana" panose="020B0604030504040204" pitchFamily="34" charset="0"/>
                <a:ea typeface="Verdana" panose="020B0604030504040204" pitchFamily="34" charset="0"/>
                <a:cs typeface="Verdana" panose="020B0604030504040204" pitchFamily="34" charset="0"/>
              </a:rPr>
              <a:t> Pearson Education, Inc. All Rights Reserved</a:t>
            </a: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pic>
        <p:nvPicPr>
          <p:cNvPr id="8" name="Picture Placeholder 21" descr="Pearson Logo">
            <a:extLst>
              <a:ext uri="{FF2B5EF4-FFF2-40B4-BE49-F238E27FC236}">
                <a16:creationId xmlns:a16="http://schemas.microsoft.com/office/drawing/2014/main" id="{9482BDEB-84DF-4344-AD30-389884976DF6}"/>
              </a:ext>
            </a:extLst>
          </p:cNvPr>
          <p:cNvPicPr>
            <a:picLocks noChangeAspect="1"/>
          </p:cNvPicPr>
          <p:nvPr userDrawn="1"/>
        </p:nvPicPr>
        <p:blipFill>
          <a:blip r:embed="rId16"/>
          <a:srcRect t="22152" b="22152"/>
          <a:stretch>
            <a:fillRect/>
          </a:stretch>
        </p:blipFill>
        <p:spPr>
          <a:xfrm>
            <a:off x="315677" y="6420639"/>
            <a:ext cx="1176574" cy="296443"/>
          </a:xfrm>
          <a:prstGeom prst="rect">
            <a:avLst/>
          </a:prstGeom>
        </p:spPr>
      </p:pic>
    </p:spTree>
  </p:cSld>
  <p:clrMap bg1="lt1" tx1="dk1" bg2="dk2" tx2="lt2" accent1="accent1" accent2="accent2" accent3="accent3" accent4="accent4" accent5="accent5" accent6="accent6" hlink="hlink" folHlink="folHlink"/>
  <p:sldLayoutIdLst>
    <p:sldLayoutId id="2147483664" r:id="rId1"/>
    <p:sldLayoutId id="2147483682" r:id="rId2"/>
    <p:sldLayoutId id="2147483650" r:id="rId3"/>
    <p:sldLayoutId id="2147483676" r:id="rId4"/>
    <p:sldLayoutId id="2147483677" r:id="rId5"/>
    <p:sldLayoutId id="2147483678" r:id="rId6"/>
    <p:sldLayoutId id="2147483679" r:id="rId7"/>
    <p:sldLayoutId id="2147483680" r:id="rId8"/>
    <p:sldLayoutId id="2147483683" r:id="rId9"/>
    <p:sldLayoutId id="2147483671" r:id="rId10"/>
    <p:sldLayoutId id="2147483673" r:id="rId11"/>
    <p:sldLayoutId id="2147483670" r:id="rId12"/>
    <p:sldLayoutId id="2147483669" r:id="rId13"/>
    <p:sldLayoutId id="2147483655"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oleObject" Target="../embeddings/oleObject1.bin"/><Relationship Id="rId1" Type="http://schemas.openxmlformats.org/officeDocument/2006/relationships/slideLayout" Target="../slideLayouts/slideLayout9.xml"/><Relationship Id="rId5" Type="http://schemas.openxmlformats.org/officeDocument/2006/relationships/image" Target="../media/image14.wmf"/><Relationship Id="rId4" Type="http://schemas.openxmlformats.org/officeDocument/2006/relationships/oleObject" Target="../embeddings/oleObject2.bin"/></Relationships>
</file>

<file path=ppt/slides/_rels/slide32.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3.bin"/><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7.1 Introduction</a:t>
            </a:r>
            <a:endParaRPr lang="en-US" dirty="0"/>
          </a:p>
        </p:txBody>
      </p:sp>
      <p:sp>
        <p:nvSpPr>
          <p:cNvPr id="3" name="Content Placeholder 2"/>
          <p:cNvSpPr>
            <a:spLocks noGrp="1"/>
          </p:cNvSpPr>
          <p:nvPr>
            <p:ph sz="quarter" idx="13"/>
          </p:nvPr>
        </p:nvSpPr>
        <p:spPr/>
        <p:txBody>
          <a:bodyPr/>
          <a:lstStyle/>
          <a:p>
            <a:r>
              <a:rPr lang="en-US" dirty="0"/>
              <a:t>In this chapter, we discuss one of C’s most powerful features—the </a:t>
            </a:r>
            <a:r>
              <a:rPr lang="en-US" b="1" dirty="0"/>
              <a:t>pointer</a:t>
            </a:r>
            <a:r>
              <a:rPr lang="en-US" dirty="0"/>
              <a:t>.</a:t>
            </a:r>
          </a:p>
          <a:p>
            <a:r>
              <a:rPr lang="en-US" dirty="0"/>
              <a:t>Pointers enable programs to</a:t>
            </a:r>
          </a:p>
          <a:p>
            <a:pPr lvl="1"/>
            <a:r>
              <a:rPr lang="en-US" dirty="0"/>
              <a:t>accomplish pass-by-reference,</a:t>
            </a:r>
          </a:p>
          <a:p>
            <a:pPr lvl="1"/>
            <a:r>
              <a:rPr lang="en-US" dirty="0"/>
              <a:t>pass functions between functions,</a:t>
            </a:r>
          </a:p>
          <a:p>
            <a:pPr lvl="1"/>
            <a:r>
              <a:rPr lang="en-US" dirty="0"/>
              <a:t>manipulate strings and arrays, and</a:t>
            </a:r>
          </a:p>
          <a:p>
            <a:pPr lvl="1"/>
            <a:r>
              <a:rPr lang="en-US" dirty="0"/>
              <a:t>create and manipulate dynamic data structures that grow and shrink at execution time, such as linked lists, queues, stacks and trees.</a:t>
            </a:r>
          </a:p>
        </p:txBody>
      </p:sp>
    </p:spTree>
    <p:extLst>
      <p:ext uri="{BB962C8B-B14F-4D97-AF65-F5344CB8AC3E}">
        <p14:creationId xmlns:p14="http://schemas.microsoft.com/office/powerpoint/2010/main" val="34668226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7.2 Pointer Variable Definitions and Initialization </a:t>
            </a:r>
            <a:r>
              <a:rPr lang="en-US" sz="2000" b="0" dirty="0"/>
              <a:t>(1 of 3)</a:t>
            </a:r>
          </a:p>
        </p:txBody>
      </p:sp>
      <p:sp>
        <p:nvSpPr>
          <p:cNvPr id="4" name="Content Placeholder 3"/>
          <p:cNvSpPr>
            <a:spLocks noGrp="1"/>
          </p:cNvSpPr>
          <p:nvPr>
            <p:ph sz="quarter" idx="13"/>
          </p:nvPr>
        </p:nvSpPr>
        <p:spPr>
          <a:xfrm>
            <a:off x="457199" y="1556326"/>
            <a:ext cx="8543109" cy="2284153"/>
          </a:xfrm>
        </p:spPr>
        <p:txBody>
          <a:bodyPr/>
          <a:lstStyle/>
          <a:p>
            <a:r>
              <a:rPr lang="en-US" sz="1800" dirty="0"/>
              <a:t>A pointer contains the address of another variable that contains a specific value</a:t>
            </a:r>
          </a:p>
          <a:p>
            <a:r>
              <a:rPr lang="en-US" sz="1800" dirty="0"/>
              <a:t>The pointer </a:t>
            </a:r>
            <a:r>
              <a:rPr lang="en-US" sz="1800" b="1" dirty="0"/>
              <a:t>points to</a:t>
            </a:r>
            <a:r>
              <a:rPr lang="en-US" sz="1800" dirty="0"/>
              <a:t> that variable</a:t>
            </a:r>
          </a:p>
          <a:p>
            <a:r>
              <a:rPr lang="en-US" sz="1800" dirty="0"/>
              <a:t>A variable name </a:t>
            </a:r>
            <a:r>
              <a:rPr lang="en-US" sz="1800" b="1" dirty="0"/>
              <a:t>directly references</a:t>
            </a:r>
            <a:r>
              <a:rPr lang="en-US" sz="1800" dirty="0"/>
              <a:t> a value</a:t>
            </a:r>
          </a:p>
          <a:p>
            <a:r>
              <a:rPr lang="en-US" sz="1800" dirty="0"/>
              <a:t>A pointer </a:t>
            </a:r>
            <a:r>
              <a:rPr lang="en-US" sz="1800" b="1" dirty="0"/>
              <a:t>indirectly references </a:t>
            </a:r>
            <a:r>
              <a:rPr lang="en-US" sz="1800" dirty="0"/>
              <a:t>a value</a:t>
            </a:r>
          </a:p>
          <a:p>
            <a:r>
              <a:rPr lang="en-US" sz="1800" dirty="0"/>
              <a:t>Referencing a value through a pointer is called </a:t>
            </a:r>
            <a:r>
              <a:rPr lang="en-US" sz="1800" b="1" dirty="0"/>
              <a:t>indirection</a:t>
            </a:r>
            <a:endParaRPr lang="en-US" sz="1800" dirty="0"/>
          </a:p>
        </p:txBody>
      </p:sp>
      <p:pic>
        <p:nvPicPr>
          <p:cNvPr id="6" name="Content Placeholder 5" descr="The figure consists of two parts that illustrate a pointer pointing to a variable that contains a value. For long description in Notes pane, press F6."/>
          <p:cNvPicPr>
            <a:picLocks noGrp="1" noChangeAspect="1"/>
          </p:cNvPicPr>
          <p:nvPr>
            <p:ph sz="quarter" idx="14"/>
          </p:nvPr>
        </p:nvPicPr>
        <p:blipFill>
          <a:blip r:embed="rId3">
            <a:extLst>
              <a:ext uri="{28A0092B-C50C-407E-A947-70E740481C1C}">
                <a14:useLocalDpi xmlns:a14="http://schemas.microsoft.com/office/drawing/2010/main" val="0"/>
              </a:ext>
            </a:extLst>
          </a:blip>
          <a:stretch>
            <a:fillRect/>
          </a:stretch>
        </p:blipFill>
        <p:spPr>
          <a:xfrm>
            <a:off x="1474334" y="4011678"/>
            <a:ext cx="6195333" cy="2234526"/>
          </a:xfrm>
        </p:spPr>
      </p:pic>
    </p:spTree>
    <p:extLst>
      <p:ext uri="{BB962C8B-B14F-4D97-AF65-F5344CB8AC3E}">
        <p14:creationId xmlns:p14="http://schemas.microsoft.com/office/powerpoint/2010/main" val="29439507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7.2 Pointer Variable Definitions and Initialization </a:t>
            </a:r>
            <a:r>
              <a:rPr lang="en-US" sz="2000" b="0" dirty="0"/>
              <a:t>(2 of 3)</a:t>
            </a:r>
          </a:p>
        </p:txBody>
      </p:sp>
      <p:sp>
        <p:nvSpPr>
          <p:cNvPr id="4" name="Content Placeholder 3"/>
          <p:cNvSpPr>
            <a:spLocks noGrp="1"/>
          </p:cNvSpPr>
          <p:nvPr>
            <p:ph sz="quarter" idx="13"/>
          </p:nvPr>
        </p:nvSpPr>
        <p:spPr>
          <a:xfrm>
            <a:off x="457200" y="1556326"/>
            <a:ext cx="8229600" cy="2649913"/>
          </a:xfrm>
        </p:spPr>
        <p:txBody>
          <a:bodyPr/>
          <a:lstStyle/>
          <a:p>
            <a:pPr marL="0" indent="0">
              <a:buNone/>
            </a:pPr>
            <a:r>
              <a:rPr lang="en-US" sz="2000" b="1" dirty="0"/>
              <a:t>Declaring Pointers</a:t>
            </a:r>
            <a:endParaRPr lang="en-US" sz="2000" dirty="0"/>
          </a:p>
          <a:p>
            <a:r>
              <a:rPr lang="en-US" sz="2000" dirty="0"/>
              <a:t>Define </a:t>
            </a:r>
            <a:r>
              <a:rPr lang="en-US" sz="2000" dirty="0">
                <a:latin typeface="Courier New" panose="02070309020205020404" pitchFamily="49" charset="0"/>
                <a:cs typeface="Courier New" panose="02070309020205020404" pitchFamily="49" charset="0"/>
              </a:rPr>
              <a:t>countPtr</a:t>
            </a:r>
            <a:r>
              <a:rPr lang="en-US" sz="2000" dirty="0"/>
              <a:t> as an </a:t>
            </a:r>
            <a:r>
              <a:rPr lang="en-US" sz="2000" dirty="0">
                <a:latin typeface="Courier New" panose="02070309020205020404" pitchFamily="49" charset="0"/>
                <a:cs typeface="Courier New" panose="02070309020205020404" pitchFamily="49" charset="0"/>
              </a:rPr>
              <a:t>int</a:t>
            </a:r>
            <a:r>
              <a:rPr lang="en-US" sz="2000" dirty="0"/>
              <a:t> </a:t>
            </a:r>
            <a:r>
              <a:rPr lang="en-US" sz="2000" dirty="0">
                <a:latin typeface="Courier New" panose="02070309020205020404" pitchFamily="49" charset="0"/>
                <a:cs typeface="Courier New" panose="02070309020205020404" pitchFamily="49" charset="0"/>
              </a:rPr>
              <a:t>*</a:t>
            </a:r>
            <a:r>
              <a:rPr lang="en-US" sz="2000" dirty="0"/>
              <a:t>—a pointer to an integer:</a:t>
            </a:r>
          </a:p>
          <a:p>
            <a:pPr lvl="1"/>
            <a:r>
              <a:rPr lang="en-US" sz="2000" dirty="0">
                <a:latin typeface="Courier New" panose="02070309020205020404" pitchFamily="49" charset="0"/>
                <a:cs typeface="Courier New" panose="02070309020205020404" pitchFamily="49" charset="0"/>
              </a:rPr>
              <a:t>int *</a:t>
            </a:r>
            <a:r>
              <a:rPr lang="en-US" sz="2000" dirty="0" err="1">
                <a:latin typeface="Courier New" panose="02070309020205020404" pitchFamily="49" charset="0"/>
                <a:cs typeface="Courier New" panose="02070309020205020404" pitchFamily="49" charset="0"/>
              </a:rPr>
              <a:t>countPtr</a:t>
            </a:r>
            <a:r>
              <a:rPr lang="en-US" sz="2000" dirty="0">
                <a:latin typeface="Courier New" panose="02070309020205020404" pitchFamily="49" charset="0"/>
                <a:cs typeface="Courier New" panose="02070309020205020404" pitchFamily="49" charset="0"/>
              </a:rPr>
              <a:t>;</a:t>
            </a:r>
          </a:p>
          <a:p>
            <a:r>
              <a:rPr lang="en-US" sz="2000" dirty="0"/>
              <a:t>Read right-to-left, “</a:t>
            </a:r>
            <a:r>
              <a:rPr lang="en-US" sz="2000" dirty="0">
                <a:latin typeface="Courier New" panose="02070309020205020404" pitchFamily="49" charset="0"/>
                <a:cs typeface="Courier New" panose="02070309020205020404" pitchFamily="49" charset="0"/>
              </a:rPr>
              <a:t>countPtr</a:t>
            </a:r>
            <a:r>
              <a:rPr lang="en-US" sz="2000" dirty="0"/>
              <a:t> is a pointer to </a:t>
            </a:r>
            <a:r>
              <a:rPr lang="en-US" sz="2000" dirty="0">
                <a:latin typeface="Courier New" panose="02070309020205020404" pitchFamily="49" charset="0"/>
                <a:cs typeface="Courier New" panose="02070309020205020404" pitchFamily="49" charset="0"/>
              </a:rPr>
              <a:t>int</a:t>
            </a:r>
            <a:r>
              <a:rPr lang="en-US" sz="2000" dirty="0"/>
              <a:t>” or “</a:t>
            </a:r>
            <a:r>
              <a:rPr lang="en-US" sz="2000" dirty="0">
                <a:latin typeface="Courier New" panose="02070309020205020404" pitchFamily="49" charset="0"/>
                <a:cs typeface="Courier New" panose="02070309020205020404" pitchFamily="49" charset="0"/>
              </a:rPr>
              <a:t>countPtr</a:t>
            </a:r>
            <a:r>
              <a:rPr lang="en-US" sz="2000" dirty="0"/>
              <a:t> points to an object of type </a:t>
            </a:r>
            <a:r>
              <a:rPr lang="en-US" sz="2000" dirty="0">
                <a:latin typeface="Courier New" panose="02070309020205020404" pitchFamily="49" charset="0"/>
                <a:cs typeface="Courier New" panose="02070309020205020404" pitchFamily="49" charset="0"/>
              </a:rPr>
              <a:t>int</a:t>
            </a:r>
            <a:r>
              <a:rPr lang="en-US" sz="2000" dirty="0"/>
              <a:t>.” </a:t>
            </a:r>
          </a:p>
          <a:p>
            <a:r>
              <a:rPr lang="en-US" sz="2000" dirty="0">
                <a:latin typeface="Courier New" panose="02070309020205020404" pitchFamily="49" charset="0"/>
                <a:cs typeface="Courier New" panose="02070309020205020404" pitchFamily="49" charset="0"/>
              </a:rPr>
              <a:t>*</a:t>
            </a:r>
            <a:r>
              <a:rPr lang="en-US" sz="2000" dirty="0"/>
              <a:t> indicates that the variable is a pointer.</a:t>
            </a:r>
          </a:p>
        </p:txBody>
      </p:sp>
      <p:sp>
        <p:nvSpPr>
          <p:cNvPr id="5" name="Content Placeholder 4"/>
          <p:cNvSpPr>
            <a:spLocks noGrp="1"/>
          </p:cNvSpPr>
          <p:nvPr>
            <p:ph sz="quarter" idx="14"/>
          </p:nvPr>
        </p:nvSpPr>
        <p:spPr>
          <a:xfrm>
            <a:off x="457200" y="4324625"/>
            <a:ext cx="8229600" cy="1827984"/>
          </a:xfrm>
        </p:spPr>
        <p:txBody>
          <a:bodyPr/>
          <a:lstStyle/>
          <a:p>
            <a:pPr marL="0" indent="0">
              <a:buNone/>
            </a:pPr>
            <a:r>
              <a:rPr lang="en-US" sz="2000" b="1" dirty="0"/>
              <a:t>Pointer Variable Naming</a:t>
            </a:r>
            <a:endParaRPr lang="en-US" sz="2000" dirty="0"/>
          </a:p>
          <a:p>
            <a:r>
              <a:rPr lang="en-US" sz="2000" dirty="0"/>
              <a:t>Our convention – end each pointer variable name with </a:t>
            </a:r>
            <a:r>
              <a:rPr lang="en-US" sz="2000" dirty="0" err="1">
                <a:latin typeface="Courier New" panose="02070309020205020404" pitchFamily="49" charset="0"/>
                <a:cs typeface="Courier New" panose="02070309020205020404" pitchFamily="49" charset="0"/>
              </a:rPr>
              <a:t>Ptr</a:t>
            </a:r>
            <a:endParaRPr lang="en-US" sz="2000" dirty="0"/>
          </a:p>
          <a:p>
            <a:r>
              <a:rPr lang="en-US" sz="2000" dirty="0"/>
              <a:t>Other common naming conventions include starting the variable name with </a:t>
            </a:r>
            <a:r>
              <a:rPr lang="en-US" sz="2000" dirty="0">
                <a:latin typeface="Courier New" panose="02070309020205020404" pitchFamily="49" charset="0"/>
                <a:cs typeface="Courier New" panose="02070309020205020404" pitchFamily="49" charset="0"/>
              </a:rPr>
              <a:t>p</a:t>
            </a:r>
            <a:r>
              <a:rPr lang="en-US" sz="2000" dirty="0"/>
              <a:t> (e.g., </a:t>
            </a:r>
            <a:r>
              <a:rPr lang="en-US" sz="2000" dirty="0">
                <a:latin typeface="Courier New" panose="02070309020205020404" pitchFamily="49" charset="0"/>
                <a:cs typeface="Courier New" panose="02070309020205020404" pitchFamily="49" charset="0"/>
              </a:rPr>
              <a:t>pCount</a:t>
            </a:r>
            <a:r>
              <a:rPr lang="en-US" sz="2000" dirty="0"/>
              <a:t>) or </a:t>
            </a:r>
            <a:r>
              <a:rPr lang="en-US" sz="2000" dirty="0">
                <a:latin typeface="Courier New" panose="02070309020205020404" pitchFamily="49" charset="0"/>
                <a:cs typeface="Courier New" panose="02070309020205020404" pitchFamily="49" charset="0"/>
              </a:rPr>
              <a:t>p_</a:t>
            </a:r>
            <a:r>
              <a:rPr lang="en-US" sz="2000" dirty="0"/>
              <a:t> (e.g., </a:t>
            </a:r>
            <a:r>
              <a:rPr lang="en-US" sz="2000" dirty="0">
                <a:latin typeface="Courier New" panose="02070309020205020404" pitchFamily="49" charset="0"/>
                <a:cs typeface="Courier New" panose="02070309020205020404" pitchFamily="49" charset="0"/>
              </a:rPr>
              <a:t>p_count</a:t>
            </a:r>
            <a:r>
              <a:rPr lang="en-US" sz="2000" dirty="0"/>
              <a:t>)</a:t>
            </a:r>
          </a:p>
        </p:txBody>
      </p:sp>
    </p:spTree>
    <p:extLst>
      <p:ext uri="{BB962C8B-B14F-4D97-AF65-F5344CB8AC3E}">
        <p14:creationId xmlns:p14="http://schemas.microsoft.com/office/powerpoint/2010/main" val="18631248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7.2 Pointer Variable Definitions and Initialization </a:t>
            </a:r>
            <a:r>
              <a:rPr lang="en-US" sz="2000" b="0" dirty="0"/>
              <a:t>(3 of 3)</a:t>
            </a:r>
          </a:p>
        </p:txBody>
      </p:sp>
      <p:sp>
        <p:nvSpPr>
          <p:cNvPr id="4" name="Content Placeholder 3"/>
          <p:cNvSpPr>
            <a:spLocks noGrp="1"/>
          </p:cNvSpPr>
          <p:nvPr>
            <p:ph sz="quarter" idx="13"/>
          </p:nvPr>
        </p:nvSpPr>
        <p:spPr>
          <a:xfrm>
            <a:off x="457200" y="1556327"/>
            <a:ext cx="8229600" cy="2427844"/>
          </a:xfrm>
        </p:spPr>
        <p:txBody>
          <a:bodyPr/>
          <a:lstStyle/>
          <a:p>
            <a:pPr marL="0" indent="0">
              <a:buNone/>
            </a:pPr>
            <a:r>
              <a:rPr lang="en-US" sz="1600" b="1" dirty="0"/>
              <a:t>Define Variables in Separate Statements</a:t>
            </a:r>
            <a:endParaRPr lang="en-US" sz="1600" dirty="0"/>
          </a:p>
          <a:p>
            <a:pPr>
              <a:spcBef>
                <a:spcPts val="1000"/>
              </a:spcBef>
            </a:pPr>
            <a:r>
              <a:rPr lang="en-US" sz="1600" dirty="0"/>
              <a:t>The * does not distribute to each variable:</a:t>
            </a:r>
          </a:p>
          <a:p>
            <a:pPr lvl="1"/>
            <a:r>
              <a:rPr lang="en-US" sz="1600" dirty="0">
                <a:latin typeface="Courier New" panose="02070309020205020404" pitchFamily="49" charset="0"/>
                <a:cs typeface="Courier New" panose="02070309020205020404" pitchFamily="49" charset="0"/>
              </a:rPr>
              <a:t>int *countPtr, count;</a:t>
            </a:r>
          </a:p>
          <a:p>
            <a:pPr lvl="1"/>
            <a:r>
              <a:rPr lang="en-US" sz="1600" dirty="0">
                <a:latin typeface="Courier New" panose="02070309020205020404" pitchFamily="49" charset="0"/>
                <a:cs typeface="Courier New" panose="02070309020205020404" pitchFamily="49" charset="0"/>
              </a:rPr>
              <a:t>countPtr</a:t>
            </a:r>
            <a:r>
              <a:rPr lang="en-US" sz="1600" dirty="0"/>
              <a:t> is a pointer to </a:t>
            </a:r>
            <a:r>
              <a:rPr lang="en-US" sz="1600" dirty="0">
                <a:latin typeface="Courier New" panose="02070309020205020404" pitchFamily="49" charset="0"/>
                <a:cs typeface="Courier New" panose="02070309020205020404" pitchFamily="49" charset="0"/>
              </a:rPr>
              <a:t>int</a:t>
            </a:r>
            <a:r>
              <a:rPr lang="en-US" sz="1600" dirty="0"/>
              <a:t>, but </a:t>
            </a:r>
            <a:r>
              <a:rPr lang="en-US" sz="1600" dirty="0">
                <a:latin typeface="Courier New" panose="02070309020205020404" pitchFamily="49" charset="0"/>
                <a:cs typeface="Courier New" panose="02070309020205020404" pitchFamily="49" charset="0"/>
              </a:rPr>
              <a:t>count</a:t>
            </a:r>
            <a:r>
              <a:rPr lang="en-US" sz="1600" dirty="0"/>
              <a:t> is just an </a:t>
            </a:r>
            <a:r>
              <a:rPr lang="en-US" sz="1600" dirty="0">
                <a:latin typeface="Courier New" panose="02070309020205020404" pitchFamily="49" charset="0"/>
                <a:cs typeface="Courier New" panose="02070309020205020404" pitchFamily="49" charset="0"/>
              </a:rPr>
              <a:t>int</a:t>
            </a:r>
          </a:p>
          <a:p>
            <a:pPr>
              <a:spcBef>
                <a:spcPts val="1000"/>
              </a:spcBef>
            </a:pPr>
            <a:r>
              <a:rPr lang="en-US" sz="1600" dirty="0"/>
              <a:t>Always write the preceding declaration as two statements to prevent ambiguity:</a:t>
            </a:r>
          </a:p>
          <a:p>
            <a:pPr lvl="1"/>
            <a:r>
              <a:rPr lang="en-US" sz="1600" dirty="0">
                <a:latin typeface="Courier New" panose="02070309020205020404" pitchFamily="49" charset="0"/>
                <a:cs typeface="Courier New" panose="02070309020205020404" pitchFamily="49" charset="0"/>
              </a:rPr>
              <a:t>int *countPtr;</a:t>
            </a:r>
          </a:p>
          <a:p>
            <a:pPr lvl="1"/>
            <a:r>
              <a:rPr lang="en-US" sz="1600" dirty="0">
                <a:latin typeface="Courier New" panose="02070309020205020404" pitchFamily="49" charset="0"/>
                <a:cs typeface="Courier New" panose="02070309020205020404" pitchFamily="49" charset="0"/>
              </a:rPr>
              <a:t>int count;</a:t>
            </a:r>
          </a:p>
        </p:txBody>
      </p:sp>
      <p:sp>
        <p:nvSpPr>
          <p:cNvPr id="5" name="Content Placeholder 4"/>
          <p:cNvSpPr>
            <a:spLocks noGrp="1"/>
          </p:cNvSpPr>
          <p:nvPr>
            <p:ph sz="quarter" idx="14"/>
          </p:nvPr>
        </p:nvSpPr>
        <p:spPr>
          <a:xfrm>
            <a:off x="457200" y="4144282"/>
            <a:ext cx="8229600" cy="2126075"/>
          </a:xfrm>
        </p:spPr>
        <p:txBody>
          <a:bodyPr/>
          <a:lstStyle/>
          <a:p>
            <a:pPr marL="0" indent="0">
              <a:buNone/>
            </a:pPr>
            <a:r>
              <a:rPr lang="en-US" sz="1600" b="1" dirty="0"/>
              <a:t>Initializing and Assigning Values to Pointers</a:t>
            </a:r>
            <a:endParaRPr lang="en-US" sz="1600" dirty="0"/>
          </a:p>
          <a:p>
            <a:pPr>
              <a:spcBef>
                <a:spcPts val="1000"/>
              </a:spcBef>
            </a:pPr>
            <a:r>
              <a:rPr lang="en-US" sz="1600" dirty="0"/>
              <a:t>Initialize pointers when they’re defined, or assign them a value</a:t>
            </a:r>
          </a:p>
          <a:p>
            <a:pPr>
              <a:spcBef>
                <a:spcPts val="1000"/>
              </a:spcBef>
            </a:pPr>
            <a:r>
              <a:rPr lang="en-US" sz="1600" dirty="0"/>
              <a:t>A pointer may be initialized to </a:t>
            </a:r>
            <a:r>
              <a:rPr lang="en-US" sz="1600" dirty="0">
                <a:latin typeface="Courier New" panose="02070309020205020404" pitchFamily="49" charset="0"/>
                <a:cs typeface="Courier New" panose="02070309020205020404" pitchFamily="49" charset="0"/>
              </a:rPr>
              <a:t>NULL</a:t>
            </a:r>
            <a:r>
              <a:rPr lang="en-US" sz="1600" dirty="0"/>
              <a:t>, </a:t>
            </a:r>
            <a:r>
              <a:rPr lang="en-US" sz="1600" dirty="0">
                <a:latin typeface="Courier New" panose="02070309020205020404" pitchFamily="49" charset="0"/>
                <a:cs typeface="Courier New" panose="02070309020205020404" pitchFamily="49" charset="0"/>
              </a:rPr>
              <a:t>0</a:t>
            </a:r>
            <a:r>
              <a:rPr lang="en-US" sz="1600" dirty="0"/>
              <a:t> or an address: </a:t>
            </a:r>
          </a:p>
          <a:p>
            <a:pPr lvl="1"/>
            <a:r>
              <a:rPr lang="en-US" sz="1600" dirty="0">
                <a:latin typeface="Courier New" panose="02070309020205020404" pitchFamily="49" charset="0"/>
                <a:cs typeface="Courier New" panose="02070309020205020404" pitchFamily="49" charset="0"/>
              </a:rPr>
              <a:t>NULL</a:t>
            </a:r>
            <a:r>
              <a:rPr lang="en-US" sz="1600" dirty="0"/>
              <a:t> points to </a:t>
            </a:r>
            <a:r>
              <a:rPr lang="en-US" sz="1600" b="1" dirty="0"/>
              <a:t>nothing</a:t>
            </a:r>
            <a:r>
              <a:rPr lang="en-US" sz="1600" dirty="0"/>
              <a:t>.</a:t>
            </a:r>
          </a:p>
          <a:p>
            <a:pPr lvl="1"/>
            <a:r>
              <a:rPr lang="en-US" sz="1600" dirty="0">
                <a:latin typeface="Courier New" panose="02070309020205020404" pitchFamily="49" charset="0"/>
                <a:cs typeface="Courier New" panose="02070309020205020404" pitchFamily="49" charset="0"/>
              </a:rPr>
              <a:t>0</a:t>
            </a:r>
            <a:r>
              <a:rPr lang="en-US" sz="1600" dirty="0"/>
              <a:t> is equivalent to </a:t>
            </a:r>
            <a:r>
              <a:rPr lang="en-US" sz="1600" dirty="0">
                <a:latin typeface="Courier New" panose="02070309020205020404" pitchFamily="49" charset="0"/>
                <a:cs typeface="Courier New" panose="02070309020205020404" pitchFamily="49" charset="0"/>
              </a:rPr>
              <a:t>NULL</a:t>
            </a:r>
            <a:r>
              <a:rPr lang="en-US" sz="1600" dirty="0"/>
              <a:t>. </a:t>
            </a:r>
            <a:r>
              <a:rPr lang="en-US" sz="1600" dirty="0">
                <a:latin typeface="Courier New" panose="02070309020205020404" pitchFamily="49" charset="0"/>
                <a:cs typeface="Courier New" panose="02070309020205020404" pitchFamily="49" charset="0"/>
              </a:rPr>
              <a:t>NULL</a:t>
            </a:r>
            <a:r>
              <a:rPr lang="en-US" sz="1600" dirty="0"/>
              <a:t> is preferred.</a:t>
            </a:r>
          </a:p>
          <a:p>
            <a:pPr lvl="1"/>
            <a:r>
              <a:rPr lang="en-US" sz="1600" dirty="0"/>
              <a:t>Assigning a variable’s address to a pointer is discussed in Section 7.3</a:t>
            </a:r>
          </a:p>
        </p:txBody>
      </p:sp>
    </p:spTree>
    <p:extLst>
      <p:ext uri="{BB962C8B-B14F-4D97-AF65-F5344CB8AC3E}">
        <p14:creationId xmlns:p14="http://schemas.microsoft.com/office/powerpoint/2010/main" val="22416653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7.3 Pointer Operators </a:t>
            </a:r>
            <a:r>
              <a:rPr lang="en-US" sz="2000" b="0" dirty="0"/>
              <a:t>(1 of 6)</a:t>
            </a:r>
          </a:p>
        </p:txBody>
      </p:sp>
      <p:sp>
        <p:nvSpPr>
          <p:cNvPr id="4" name="Content Placeholder 3"/>
          <p:cNvSpPr>
            <a:spLocks noGrp="1"/>
          </p:cNvSpPr>
          <p:nvPr>
            <p:ph sz="quarter" idx="13"/>
          </p:nvPr>
        </p:nvSpPr>
        <p:spPr>
          <a:xfrm>
            <a:off x="457199" y="1556326"/>
            <a:ext cx="8516984" cy="2545411"/>
          </a:xfrm>
        </p:spPr>
        <p:txBody>
          <a:bodyPr/>
          <a:lstStyle/>
          <a:p>
            <a:r>
              <a:rPr lang="en-US" sz="2200" dirty="0"/>
              <a:t>Unary </a:t>
            </a:r>
            <a:r>
              <a:rPr lang="en-US" sz="2200" b="1" dirty="0"/>
              <a:t>address operator</a:t>
            </a:r>
            <a:r>
              <a:rPr lang="en-US" sz="2200" dirty="0"/>
              <a:t> (</a:t>
            </a:r>
            <a:r>
              <a:rPr lang="en-US" sz="2200" b="1" dirty="0"/>
              <a:t>&amp;</a:t>
            </a:r>
            <a:r>
              <a:rPr lang="en-US" sz="2200" dirty="0"/>
              <a:t>) returns the </a:t>
            </a:r>
            <a:r>
              <a:rPr lang="en-US" sz="2200" b="1" dirty="0"/>
              <a:t>address</a:t>
            </a:r>
            <a:r>
              <a:rPr lang="en-US" sz="2200" dirty="0"/>
              <a:t> of its operand</a:t>
            </a:r>
          </a:p>
          <a:p>
            <a:r>
              <a:rPr lang="en-US" sz="2200" dirty="0">
                <a:latin typeface="Courier New" panose="02070309020205020404" pitchFamily="49" charset="0"/>
                <a:cs typeface="Courier New" panose="02070309020205020404" pitchFamily="49" charset="0"/>
              </a:rPr>
              <a:t>int y = 5;</a:t>
            </a:r>
          </a:p>
          <a:p>
            <a:r>
              <a:rPr lang="en-US" sz="2200" dirty="0">
                <a:latin typeface="Courier New" panose="02070309020205020404" pitchFamily="49" charset="0"/>
                <a:cs typeface="Courier New" panose="02070309020205020404" pitchFamily="49" charset="0"/>
              </a:rPr>
              <a:t>int *yPtr = &amp;y;</a:t>
            </a:r>
          </a:p>
          <a:p>
            <a:pPr lvl="1"/>
            <a:r>
              <a:rPr lang="en-US" sz="2200" dirty="0"/>
              <a:t>initializes pointer variable </a:t>
            </a:r>
            <a:r>
              <a:rPr lang="en-US" sz="2200" dirty="0">
                <a:latin typeface="Courier New" panose="02070309020205020404" pitchFamily="49" charset="0"/>
                <a:cs typeface="Courier New" panose="02070309020205020404" pitchFamily="49" charset="0"/>
              </a:rPr>
              <a:t>yPtr</a:t>
            </a:r>
            <a:r>
              <a:rPr lang="en-US" sz="2200" dirty="0"/>
              <a:t> with variable </a:t>
            </a:r>
            <a:r>
              <a:rPr lang="en-US" sz="2200" dirty="0">
                <a:latin typeface="Courier New" panose="02070309020205020404" pitchFamily="49" charset="0"/>
                <a:cs typeface="Courier New" panose="02070309020205020404" pitchFamily="49" charset="0"/>
              </a:rPr>
              <a:t>y</a:t>
            </a:r>
            <a:r>
              <a:rPr lang="en-US" sz="2200" dirty="0"/>
              <a:t>’s </a:t>
            </a:r>
            <a:r>
              <a:rPr lang="en-US" sz="2200" b="1" dirty="0"/>
              <a:t>address</a:t>
            </a:r>
          </a:p>
          <a:p>
            <a:pPr lvl="1"/>
            <a:r>
              <a:rPr lang="en-US" sz="2200" dirty="0">
                <a:latin typeface="Courier New" panose="02070309020205020404" pitchFamily="49" charset="0"/>
                <a:cs typeface="Courier New" panose="02070309020205020404" pitchFamily="49" charset="0"/>
              </a:rPr>
              <a:t>yPtr</a:t>
            </a:r>
            <a:r>
              <a:rPr lang="en-US" sz="2200" dirty="0"/>
              <a:t> is then said to “point to” </a:t>
            </a:r>
            <a:r>
              <a:rPr lang="en-US" sz="2200" dirty="0">
                <a:latin typeface="Courier New" panose="02070309020205020404" pitchFamily="49" charset="0"/>
                <a:cs typeface="Courier New" panose="02070309020205020404" pitchFamily="49" charset="0"/>
              </a:rPr>
              <a:t>y</a:t>
            </a:r>
          </a:p>
        </p:txBody>
      </p:sp>
      <p:pic>
        <p:nvPicPr>
          <p:cNvPr id="6" name="Content Placeholder 5" descr="The figure illustrates a pointer pointing to a variable that contains a value. The figure shows an arrow from a box labeled y P t r pointing to a box to the right labeled y that contains a value 5."/>
          <p:cNvPicPr>
            <a:picLocks noGrp="1" noChangeAspect="1"/>
          </p:cNvPicPr>
          <p:nvPr>
            <p:ph sz="quarter" idx="14"/>
          </p:nvPr>
        </p:nvPicPr>
        <p:blipFill>
          <a:blip r:embed="rId3">
            <a:extLst>
              <a:ext uri="{28A0092B-C50C-407E-A947-70E740481C1C}">
                <a14:useLocalDpi xmlns:a14="http://schemas.microsoft.com/office/drawing/2010/main" val="0"/>
              </a:ext>
            </a:extLst>
          </a:blip>
          <a:stretch>
            <a:fillRect/>
          </a:stretch>
        </p:blipFill>
        <p:spPr>
          <a:xfrm>
            <a:off x="3168779" y="4554417"/>
            <a:ext cx="2806443" cy="1349012"/>
          </a:xfrm>
        </p:spPr>
      </p:pic>
    </p:spTree>
    <p:extLst>
      <p:ext uri="{BB962C8B-B14F-4D97-AF65-F5344CB8AC3E}">
        <p14:creationId xmlns:p14="http://schemas.microsoft.com/office/powerpoint/2010/main" val="25864240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7.3 Pointer Operators </a:t>
            </a:r>
            <a:r>
              <a:rPr lang="en-US" sz="2000" b="0" dirty="0"/>
              <a:t>(2 of 6)</a:t>
            </a:r>
          </a:p>
        </p:txBody>
      </p:sp>
      <p:sp>
        <p:nvSpPr>
          <p:cNvPr id="4" name="Content Placeholder 3"/>
          <p:cNvSpPr>
            <a:spLocks noGrp="1"/>
          </p:cNvSpPr>
          <p:nvPr>
            <p:ph sz="quarter" idx="13"/>
          </p:nvPr>
        </p:nvSpPr>
        <p:spPr>
          <a:xfrm>
            <a:off x="457200" y="1556327"/>
            <a:ext cx="8229600" cy="1709387"/>
          </a:xfrm>
        </p:spPr>
        <p:txBody>
          <a:bodyPr/>
          <a:lstStyle/>
          <a:p>
            <a:r>
              <a:rPr lang="en-US" dirty="0"/>
              <a:t>The following diagram shows the preceding pointer’s representation in memory, assuming that integer variable </a:t>
            </a:r>
            <a:r>
              <a:rPr lang="en-US" dirty="0">
                <a:latin typeface="Courier New" panose="02070309020205020404" pitchFamily="49" charset="0"/>
                <a:cs typeface="Courier New" panose="02070309020205020404" pitchFamily="49" charset="0"/>
              </a:rPr>
              <a:t>y</a:t>
            </a:r>
            <a:r>
              <a:rPr lang="en-US" dirty="0"/>
              <a:t> is stored at location </a:t>
            </a:r>
            <a:r>
              <a:rPr lang="en-US" dirty="0">
                <a:latin typeface="Courier New" panose="02070309020205020404" pitchFamily="49" charset="0"/>
                <a:cs typeface="Courier New" panose="02070309020205020404" pitchFamily="49" charset="0"/>
              </a:rPr>
              <a:t>600000</a:t>
            </a:r>
            <a:r>
              <a:rPr lang="en-US" dirty="0"/>
              <a:t> and the pointer variable </a:t>
            </a:r>
            <a:r>
              <a:rPr lang="en-US" dirty="0">
                <a:latin typeface="Courier New" panose="02070309020205020404" pitchFamily="49" charset="0"/>
                <a:cs typeface="Courier New" panose="02070309020205020404" pitchFamily="49" charset="0"/>
              </a:rPr>
              <a:t>yPtr</a:t>
            </a:r>
            <a:r>
              <a:rPr lang="en-US" dirty="0"/>
              <a:t> is stored at location </a:t>
            </a:r>
            <a:r>
              <a:rPr lang="en-US" dirty="0">
                <a:latin typeface="Courier New" panose="02070309020205020404" pitchFamily="49" charset="0"/>
                <a:cs typeface="Courier New" panose="02070309020205020404" pitchFamily="49" charset="0"/>
              </a:rPr>
              <a:t>500000</a:t>
            </a:r>
          </a:p>
        </p:txBody>
      </p:sp>
      <p:pic>
        <p:nvPicPr>
          <p:cNvPr id="6" name="Content Placeholder 5" descr="The figure illustrates pointer representation in memory. For long description in Notes pane, press F6."/>
          <p:cNvPicPr>
            <a:picLocks noGrp="1" noChangeAspect="1"/>
          </p:cNvPicPr>
          <p:nvPr>
            <p:ph sz="quarter" idx="14"/>
          </p:nvPr>
        </p:nvPicPr>
        <p:blipFill>
          <a:blip r:embed="rId3">
            <a:extLst>
              <a:ext uri="{28A0092B-C50C-407E-A947-70E740481C1C}">
                <a14:useLocalDpi xmlns:a14="http://schemas.microsoft.com/office/drawing/2010/main" val="0"/>
              </a:ext>
            </a:extLst>
          </a:blip>
          <a:stretch>
            <a:fillRect/>
          </a:stretch>
        </p:blipFill>
        <p:spPr>
          <a:xfrm>
            <a:off x="578216" y="3666096"/>
            <a:ext cx="7987569" cy="1096881"/>
          </a:xfrm>
        </p:spPr>
      </p:pic>
    </p:spTree>
    <p:extLst>
      <p:ext uri="{BB962C8B-B14F-4D97-AF65-F5344CB8AC3E}">
        <p14:creationId xmlns:p14="http://schemas.microsoft.com/office/powerpoint/2010/main" val="34931575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7.3 Pointer Operators </a:t>
            </a:r>
            <a:r>
              <a:rPr lang="en-US" sz="2000" b="0" dirty="0"/>
              <a:t>(3 of 6)</a:t>
            </a:r>
          </a:p>
        </p:txBody>
      </p:sp>
      <p:sp>
        <p:nvSpPr>
          <p:cNvPr id="3" name="Content Placeholder 2"/>
          <p:cNvSpPr>
            <a:spLocks noGrp="1"/>
          </p:cNvSpPr>
          <p:nvPr>
            <p:ph sz="quarter" idx="13"/>
          </p:nvPr>
        </p:nvSpPr>
        <p:spPr>
          <a:xfrm>
            <a:off x="457199" y="1556327"/>
            <a:ext cx="8425543" cy="4413399"/>
          </a:xfrm>
        </p:spPr>
        <p:txBody>
          <a:bodyPr/>
          <a:lstStyle/>
          <a:p>
            <a:r>
              <a:rPr lang="en-US" sz="2200" dirty="0"/>
              <a:t>Unary </a:t>
            </a:r>
            <a:r>
              <a:rPr lang="en-US" sz="2200" b="1" dirty="0"/>
              <a:t>indirection operator</a:t>
            </a:r>
            <a:r>
              <a:rPr lang="en-US" sz="2200" dirty="0"/>
              <a:t> (</a:t>
            </a:r>
            <a:r>
              <a:rPr lang="en-US" sz="2200" b="1" dirty="0"/>
              <a:t>*</a:t>
            </a:r>
            <a:r>
              <a:rPr lang="en-US" sz="2200" dirty="0"/>
              <a:t>), also called the </a:t>
            </a:r>
            <a:r>
              <a:rPr lang="en-US" sz="2200" b="1" dirty="0"/>
              <a:t>dereferencing operator</a:t>
            </a:r>
            <a:endParaRPr lang="en-US" sz="2200" dirty="0"/>
          </a:p>
          <a:p>
            <a:r>
              <a:rPr lang="en-US" sz="2200" dirty="0"/>
              <a:t>Apply to a pointer operand to get the </a:t>
            </a:r>
            <a:r>
              <a:rPr lang="en-US" sz="2200" b="1" dirty="0"/>
              <a:t>value</a:t>
            </a:r>
            <a:r>
              <a:rPr lang="en-US" sz="2200" dirty="0"/>
              <a:t> of the object to which the pointer points—known as </a:t>
            </a:r>
            <a:r>
              <a:rPr lang="en-US" sz="2200" b="1" dirty="0"/>
              <a:t>dereferencing a pointer</a:t>
            </a:r>
            <a:endParaRPr lang="en-US" sz="2200" dirty="0"/>
          </a:p>
          <a:p>
            <a:r>
              <a:rPr lang="en-US" sz="2200" dirty="0">
                <a:latin typeface="Courier New" panose="02070309020205020404" pitchFamily="49" charset="0"/>
                <a:cs typeface="Courier New" panose="02070309020205020404" pitchFamily="49" charset="0"/>
              </a:rPr>
              <a:t>yPtr</a:t>
            </a:r>
            <a:r>
              <a:rPr lang="en-US" sz="2200" dirty="0"/>
              <a:t> points to </a:t>
            </a:r>
            <a:r>
              <a:rPr lang="en-US" sz="2200" dirty="0">
                <a:latin typeface="Courier New" panose="02070309020205020404" pitchFamily="49" charset="0"/>
                <a:cs typeface="Courier New" panose="02070309020205020404" pitchFamily="49" charset="0"/>
              </a:rPr>
              <a:t>y</a:t>
            </a:r>
            <a:r>
              <a:rPr lang="en-US" sz="2200" dirty="0"/>
              <a:t>, which is </a:t>
            </a:r>
            <a:r>
              <a:rPr lang="en-US" sz="2200" dirty="0">
                <a:latin typeface="Courier New" panose="02070309020205020404" pitchFamily="49" charset="0"/>
                <a:cs typeface="Courier New" panose="02070309020205020404" pitchFamily="49" charset="0"/>
              </a:rPr>
              <a:t>5</a:t>
            </a:r>
            <a:r>
              <a:rPr lang="en-US" sz="2200" dirty="0"/>
              <a:t>, so the following statement prints </a:t>
            </a:r>
            <a:r>
              <a:rPr lang="en-US" sz="2200" dirty="0">
                <a:latin typeface="Courier New" panose="02070309020205020404" pitchFamily="49" charset="0"/>
                <a:cs typeface="Courier New" panose="02070309020205020404" pitchFamily="49" charset="0"/>
              </a:rPr>
              <a:t>5</a:t>
            </a:r>
          </a:p>
          <a:p>
            <a:pPr lvl="1"/>
            <a:r>
              <a:rPr lang="en-US" sz="2200" dirty="0">
                <a:latin typeface="Courier New" panose="02070309020205020404" pitchFamily="49" charset="0"/>
                <a:cs typeface="Courier New" panose="02070309020205020404" pitchFamily="49" charset="0"/>
              </a:rPr>
              <a:t>printf("%d", *yPtr);</a:t>
            </a:r>
          </a:p>
          <a:p>
            <a:r>
              <a:rPr lang="en-US" sz="2200" dirty="0"/>
              <a:t>Dereferencing a pointer that has not been initialized with or assigned the address of another variable in memory is an error</a:t>
            </a:r>
          </a:p>
          <a:p>
            <a:pPr lvl="1"/>
            <a:r>
              <a:rPr lang="en-US" sz="2200" dirty="0"/>
              <a:t>Can cause a fatal execution-time error, accidentally modify data, produce incorrect results, or lead to a security breach</a:t>
            </a:r>
          </a:p>
        </p:txBody>
      </p:sp>
    </p:spTree>
    <p:extLst>
      <p:ext uri="{BB962C8B-B14F-4D97-AF65-F5344CB8AC3E}">
        <p14:creationId xmlns:p14="http://schemas.microsoft.com/office/powerpoint/2010/main" val="17974093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7.3 Pointer Operators </a:t>
            </a:r>
            <a:r>
              <a:rPr lang="en-US" sz="2000" b="0" dirty="0"/>
              <a:t>(4 of 6)</a:t>
            </a:r>
          </a:p>
        </p:txBody>
      </p:sp>
      <p:sp>
        <p:nvSpPr>
          <p:cNvPr id="3" name="Content Placeholder 2"/>
          <p:cNvSpPr>
            <a:spLocks noGrp="1"/>
          </p:cNvSpPr>
          <p:nvPr>
            <p:ph sz="quarter" idx="13"/>
          </p:nvPr>
        </p:nvSpPr>
        <p:spPr/>
        <p:txBody>
          <a:bodyPr/>
          <a:lstStyle/>
          <a:p>
            <a:r>
              <a:rPr lang="en-US" dirty="0"/>
              <a:t>Figure 7.1 demonstrates the pointer operators </a:t>
            </a:r>
            <a:r>
              <a:rPr lang="en-US" dirty="0">
                <a:latin typeface="Courier New" panose="02070309020205020404" pitchFamily="49" charset="0"/>
                <a:cs typeface="Courier New" panose="02070309020205020404" pitchFamily="49" charset="0"/>
              </a:rPr>
              <a:t>&amp;</a:t>
            </a:r>
            <a:r>
              <a:rPr lang="en-US" dirty="0"/>
              <a:t> and </a:t>
            </a:r>
            <a:r>
              <a:rPr lang="en-US" dirty="0">
                <a:latin typeface="Courier New" panose="02070309020205020404" pitchFamily="49" charset="0"/>
                <a:cs typeface="Courier New" panose="02070309020205020404" pitchFamily="49" charset="0"/>
              </a:rPr>
              <a:t>*</a:t>
            </a:r>
          </a:p>
          <a:p>
            <a:r>
              <a:rPr lang="en-US" b="1" dirty="0"/>
              <a:t>Conversion specification </a:t>
            </a:r>
            <a:r>
              <a:rPr lang="en-US" b="1" dirty="0">
                <a:latin typeface="Courier New" panose="02070309020205020404" pitchFamily="49" charset="0"/>
                <a:cs typeface="Courier New" panose="02070309020205020404" pitchFamily="49" charset="0"/>
              </a:rPr>
              <a:t>%p</a:t>
            </a:r>
            <a:r>
              <a:rPr lang="en-US" dirty="0"/>
              <a:t> outputs a memory location as a hexadecimal integer on most platforms</a:t>
            </a:r>
          </a:p>
          <a:p>
            <a:r>
              <a:rPr lang="en-US" dirty="0"/>
              <a:t>The </a:t>
            </a:r>
            <a:r>
              <a:rPr lang="en-US" dirty="0">
                <a:latin typeface="Courier New" panose="02070309020205020404" pitchFamily="49" charset="0"/>
                <a:cs typeface="Courier New" panose="02070309020205020404" pitchFamily="49" charset="0"/>
              </a:rPr>
              <a:t>&amp;</a:t>
            </a:r>
            <a:r>
              <a:rPr lang="en-US" dirty="0"/>
              <a:t> and </a:t>
            </a:r>
            <a:r>
              <a:rPr lang="en-US" dirty="0">
                <a:latin typeface="Courier New" panose="02070309020205020404" pitchFamily="49" charset="0"/>
                <a:cs typeface="Courier New" panose="02070309020205020404" pitchFamily="49" charset="0"/>
              </a:rPr>
              <a:t>*</a:t>
            </a:r>
            <a:r>
              <a:rPr lang="en-US" dirty="0"/>
              <a:t> operators are complements of one another</a:t>
            </a:r>
          </a:p>
          <a:p>
            <a:r>
              <a:rPr lang="en-US" dirty="0"/>
              <a:t>The addresses in the output will vary across systems that use different processor architectures, different compilers and even different compiler settings</a:t>
            </a:r>
          </a:p>
        </p:txBody>
      </p:sp>
    </p:spTree>
    <p:extLst>
      <p:ext uri="{BB962C8B-B14F-4D97-AF65-F5344CB8AC3E}">
        <p14:creationId xmlns:p14="http://schemas.microsoft.com/office/powerpoint/2010/main" val="25662212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7.3 Pointer Operators </a:t>
            </a:r>
            <a:r>
              <a:rPr lang="en-US" sz="2000" b="0" dirty="0"/>
              <a:t>(5 of 6)</a:t>
            </a:r>
          </a:p>
        </p:txBody>
      </p:sp>
      <p:sp>
        <p:nvSpPr>
          <p:cNvPr id="3" name="Content Placeholder 2"/>
          <p:cNvSpPr>
            <a:spLocks noGrp="1"/>
          </p:cNvSpPr>
          <p:nvPr>
            <p:ph sz="quarter" idx="13"/>
          </p:nvPr>
        </p:nvSpPr>
        <p:spPr>
          <a:xfrm>
            <a:off x="457200" y="1556326"/>
            <a:ext cx="8229600" cy="4788911"/>
          </a:xfrm>
        </p:spPr>
        <p:txBody>
          <a:bodyPr/>
          <a:lstStyle/>
          <a:p>
            <a:pPr marL="342900" indent="-342900">
              <a:spcBef>
                <a:spcPts val="400"/>
              </a:spcBef>
              <a:buFont typeface="+mj-lt"/>
              <a:buAutoNum type="arabicPeriod"/>
            </a:pPr>
            <a:r>
              <a:rPr lang="en-US" sz="1600" dirty="0">
                <a:solidFill>
                  <a:schemeClr val="tx1"/>
                </a:solidFill>
                <a:latin typeface="Courier New" panose="02070309020205020404" pitchFamily="49" charset="0"/>
                <a:cs typeface="Courier New" panose="02070309020205020404" pitchFamily="49" charset="0"/>
              </a:rPr>
              <a:t> // fig07_01.c</a:t>
            </a:r>
          </a:p>
          <a:p>
            <a:pPr marL="342900" indent="-342900">
              <a:spcBef>
                <a:spcPts val="400"/>
              </a:spcBef>
              <a:buFont typeface="+mj-lt"/>
              <a:buAutoNum type="arabicPeriod"/>
            </a:pPr>
            <a:r>
              <a:rPr lang="en-US" sz="1600" dirty="0">
                <a:solidFill>
                  <a:schemeClr val="tx1"/>
                </a:solidFill>
                <a:latin typeface="Courier New" panose="02070309020205020404" pitchFamily="49" charset="0"/>
                <a:cs typeface="Courier New" panose="02070309020205020404" pitchFamily="49" charset="0"/>
              </a:rPr>
              <a:t> // Using the &amp; and * pointer operators.</a:t>
            </a:r>
          </a:p>
          <a:p>
            <a:pPr marL="342900" indent="-342900">
              <a:spcBef>
                <a:spcPts val="400"/>
              </a:spcBef>
              <a:buFont typeface="+mj-lt"/>
              <a:buAutoNum type="arabicPeriod"/>
            </a:pPr>
            <a:r>
              <a:rPr lang="en-US" sz="1600" dirty="0">
                <a:solidFill>
                  <a:schemeClr val="tx1"/>
                </a:solidFill>
                <a:latin typeface="Courier New" panose="02070309020205020404" pitchFamily="49" charset="0"/>
                <a:cs typeface="Courier New" panose="02070309020205020404" pitchFamily="49" charset="0"/>
              </a:rPr>
              <a:t> #include &lt;stdio.h&gt;</a:t>
            </a:r>
          </a:p>
          <a:p>
            <a:pPr marL="342900" indent="-342900">
              <a:spcBef>
                <a:spcPts val="400"/>
              </a:spcBef>
              <a:buFont typeface="+mj-lt"/>
              <a:buAutoNum type="arabicPeriod"/>
            </a:pPr>
            <a:r>
              <a:rPr lang="en-US" sz="1600" dirty="0">
                <a:solidFill>
                  <a:schemeClr val="tx1"/>
                </a:solidFill>
                <a:latin typeface="Courier New" panose="02070309020205020404" pitchFamily="49" charset="0"/>
                <a:cs typeface="Courier New" panose="02070309020205020404" pitchFamily="49" charset="0"/>
              </a:rPr>
              <a:t>  </a:t>
            </a:r>
          </a:p>
          <a:p>
            <a:pPr marL="342900" indent="-342900">
              <a:spcBef>
                <a:spcPts val="400"/>
              </a:spcBef>
              <a:buFont typeface="+mj-lt"/>
              <a:buAutoNum type="arabicPeriod"/>
            </a:pPr>
            <a:r>
              <a:rPr lang="en-US" sz="1600" dirty="0">
                <a:solidFill>
                  <a:schemeClr val="tx1"/>
                </a:solidFill>
                <a:latin typeface="Courier New" panose="02070309020205020404" pitchFamily="49" charset="0"/>
                <a:cs typeface="Courier New" panose="02070309020205020404" pitchFamily="49" charset="0"/>
              </a:rPr>
              <a:t> int main(void) {</a:t>
            </a:r>
          </a:p>
          <a:p>
            <a:pPr marL="342900" indent="-342900">
              <a:spcBef>
                <a:spcPts val="400"/>
              </a:spcBef>
              <a:buFont typeface="+mj-lt"/>
              <a:buAutoNum type="arabicPeriod"/>
            </a:pPr>
            <a:r>
              <a:rPr lang="en-US" sz="1600" dirty="0">
                <a:solidFill>
                  <a:schemeClr val="tx1"/>
                </a:solidFill>
                <a:latin typeface="Courier New" panose="02070309020205020404" pitchFamily="49" charset="0"/>
                <a:cs typeface="Courier New" panose="02070309020205020404" pitchFamily="49" charset="0"/>
              </a:rPr>
              <a:t>    int a = 7;</a:t>
            </a:r>
          </a:p>
          <a:p>
            <a:pPr marL="342900" indent="-342900">
              <a:spcBef>
                <a:spcPts val="400"/>
              </a:spcBef>
              <a:buFont typeface="+mj-lt"/>
              <a:buAutoNum type="arabicPeriod"/>
            </a:pPr>
            <a:r>
              <a:rPr lang="en-US" sz="1600" dirty="0">
                <a:solidFill>
                  <a:schemeClr val="tx1"/>
                </a:solidFill>
                <a:latin typeface="Courier New" panose="02070309020205020404" pitchFamily="49" charset="0"/>
                <a:cs typeface="Courier New" panose="02070309020205020404" pitchFamily="49" charset="0"/>
              </a:rPr>
              <a:t>    int *aPtr = &amp;a; // set aPtr to the address of a</a:t>
            </a:r>
          </a:p>
          <a:p>
            <a:pPr marL="342900" indent="-342900">
              <a:spcBef>
                <a:spcPts val="400"/>
              </a:spcBef>
              <a:buFont typeface="+mj-lt"/>
              <a:buAutoNum type="arabicPeriod"/>
            </a:pPr>
            <a:r>
              <a:rPr lang="en-US" sz="1600" dirty="0">
                <a:solidFill>
                  <a:schemeClr val="tx1"/>
                </a:solidFill>
                <a:latin typeface="Courier New" panose="02070309020205020404" pitchFamily="49" charset="0"/>
                <a:cs typeface="Courier New" panose="02070309020205020404" pitchFamily="49" charset="0"/>
              </a:rPr>
              <a:t>  </a:t>
            </a:r>
          </a:p>
          <a:p>
            <a:pPr marL="342900" indent="-342900">
              <a:spcBef>
                <a:spcPts val="400"/>
              </a:spcBef>
              <a:buFont typeface="+mj-lt"/>
              <a:buAutoNum type="arabicPeriod"/>
            </a:pPr>
            <a:r>
              <a:rPr lang="en-US" sz="1600" dirty="0">
                <a:solidFill>
                  <a:schemeClr val="tx1"/>
                </a:solidFill>
                <a:latin typeface="Courier New" panose="02070309020205020404" pitchFamily="49" charset="0"/>
                <a:cs typeface="Courier New" panose="02070309020205020404" pitchFamily="49" charset="0"/>
              </a:rPr>
              <a:t>    printf("Address of a is %p\nValue of aPtr is %p\n\n", &amp;a, aPtr); </a:t>
            </a:r>
          </a:p>
          <a:p>
            <a:pPr marL="342900" indent="-342900">
              <a:spcBef>
                <a:spcPts val="400"/>
              </a:spcBef>
              <a:buFont typeface="+mj-lt"/>
              <a:buAutoNum type="arabicPeriod"/>
            </a:pPr>
            <a:r>
              <a:rPr lang="en-US" sz="1600" dirty="0">
                <a:solidFill>
                  <a:schemeClr val="tx1"/>
                </a:solidFill>
                <a:latin typeface="Courier New" panose="02070309020205020404" pitchFamily="49" charset="0"/>
                <a:cs typeface="Courier New" panose="02070309020205020404" pitchFamily="49" charset="0"/>
              </a:rPr>
              <a:t>    printf("Value of a is %d\nValue of *aPtr is %d\n\n", a, *aPtr);</a:t>
            </a:r>
          </a:p>
          <a:p>
            <a:pPr marL="342900" indent="-342900">
              <a:spcBef>
                <a:spcPts val="400"/>
              </a:spcBef>
              <a:buFont typeface="+mj-lt"/>
              <a:buAutoNum type="arabicPeriod"/>
            </a:pPr>
            <a:r>
              <a:rPr lang="en-US" sz="1600" dirty="0">
                <a:solidFill>
                  <a:schemeClr val="tx1"/>
                </a:solidFill>
                <a:latin typeface="Courier New" panose="02070309020205020404" pitchFamily="49" charset="0"/>
                <a:cs typeface="Courier New" panose="02070309020205020404" pitchFamily="49" charset="0"/>
              </a:rPr>
              <a:t>    printf("Showing that * and &amp; are complements of each other\n");</a:t>
            </a:r>
          </a:p>
          <a:p>
            <a:pPr marL="342900" indent="-342900">
              <a:spcBef>
                <a:spcPts val="400"/>
              </a:spcBef>
              <a:buFont typeface="+mj-lt"/>
              <a:buAutoNum type="arabicPeriod"/>
            </a:pPr>
            <a:r>
              <a:rPr lang="en-US" sz="1600" dirty="0">
                <a:solidFill>
                  <a:schemeClr val="tx1"/>
                </a:solidFill>
                <a:latin typeface="Courier New" panose="02070309020205020404" pitchFamily="49" charset="0"/>
                <a:cs typeface="Courier New" panose="02070309020205020404" pitchFamily="49" charset="0"/>
              </a:rPr>
              <a:t>    printf("&amp;*aPtr = %p\n*&amp;aPtr = %p\n", &amp;*aPtr, *&amp;aPtr);</a:t>
            </a:r>
          </a:p>
          <a:p>
            <a:pPr marL="342900" indent="-342900">
              <a:spcBef>
                <a:spcPts val="400"/>
              </a:spcBef>
              <a:buFont typeface="+mj-lt"/>
              <a:buAutoNum type="arabicPeriod"/>
            </a:pPr>
            <a:r>
              <a:rPr lang="en-US" sz="1600" dirty="0">
                <a:solidFill>
                  <a:schemeClr val="tx1"/>
                </a:solidFill>
                <a:latin typeface="Courier New" panose="02070309020205020404" pitchFamily="49" charset="0"/>
                <a:cs typeface="Courier New" panose="02070309020205020404" pitchFamily="49" charset="0"/>
              </a:rPr>
              <a:t> } </a:t>
            </a:r>
          </a:p>
        </p:txBody>
      </p:sp>
    </p:spTree>
    <p:extLst>
      <p:ext uri="{BB962C8B-B14F-4D97-AF65-F5344CB8AC3E}">
        <p14:creationId xmlns:p14="http://schemas.microsoft.com/office/powerpoint/2010/main" val="16933513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7.3 Pointer Operators </a:t>
            </a:r>
            <a:r>
              <a:rPr lang="en-US" sz="2000" b="0" dirty="0"/>
              <a:t>(6 of 6)</a:t>
            </a:r>
          </a:p>
        </p:txBody>
      </p:sp>
      <p:sp>
        <p:nvSpPr>
          <p:cNvPr id="3" name="Content Placeholder 2"/>
          <p:cNvSpPr>
            <a:spLocks noGrp="1"/>
          </p:cNvSpPr>
          <p:nvPr>
            <p:ph sz="quarter" idx="13"/>
          </p:nvPr>
        </p:nvSpPr>
        <p:spPr/>
        <p:txBody>
          <a:bodyPr/>
          <a:lstStyle/>
          <a:p>
            <a:pPr marL="0" indent="0">
              <a:buNone/>
            </a:pPr>
            <a:r>
              <a:rPr lang="en-US" sz="2000" dirty="0">
                <a:solidFill>
                  <a:schemeClr val="tx1"/>
                </a:solidFill>
                <a:latin typeface="Courier New" panose="02070309020205020404" pitchFamily="49" charset="0"/>
                <a:cs typeface="Courier New" panose="02070309020205020404" pitchFamily="49" charset="0"/>
              </a:rPr>
              <a:t>Address of a is 0x7fffe69386cc</a:t>
            </a:r>
          </a:p>
          <a:p>
            <a:pPr marL="0" indent="0">
              <a:buNone/>
            </a:pPr>
            <a:r>
              <a:rPr lang="en-US" sz="2000" dirty="0">
                <a:solidFill>
                  <a:schemeClr val="tx1"/>
                </a:solidFill>
                <a:latin typeface="Courier New" panose="02070309020205020404" pitchFamily="49" charset="0"/>
                <a:cs typeface="Courier New" panose="02070309020205020404" pitchFamily="49" charset="0"/>
              </a:rPr>
              <a:t>Value of aPtr is 0x7fffe69386cc</a:t>
            </a:r>
          </a:p>
          <a:p>
            <a:pPr marL="0" indent="0">
              <a:buNone/>
            </a:pPr>
            <a:endParaRPr lang="en-US" sz="2000" dirty="0">
              <a:solidFill>
                <a:schemeClr val="tx1"/>
              </a:solidFill>
              <a:latin typeface="Courier New" panose="02070309020205020404" pitchFamily="49" charset="0"/>
              <a:cs typeface="Courier New" panose="02070309020205020404" pitchFamily="49" charset="0"/>
            </a:endParaRPr>
          </a:p>
          <a:p>
            <a:pPr marL="0" indent="0">
              <a:buNone/>
            </a:pPr>
            <a:r>
              <a:rPr lang="en-US" sz="2000" dirty="0">
                <a:solidFill>
                  <a:schemeClr val="tx1"/>
                </a:solidFill>
                <a:latin typeface="Courier New" panose="02070309020205020404" pitchFamily="49" charset="0"/>
                <a:cs typeface="Courier New" panose="02070309020205020404" pitchFamily="49" charset="0"/>
              </a:rPr>
              <a:t>Value of a is 7</a:t>
            </a:r>
          </a:p>
          <a:p>
            <a:pPr marL="0" indent="0">
              <a:buNone/>
            </a:pPr>
            <a:r>
              <a:rPr lang="en-US" sz="2000" dirty="0">
                <a:solidFill>
                  <a:schemeClr val="tx1"/>
                </a:solidFill>
                <a:latin typeface="Courier New" panose="02070309020205020404" pitchFamily="49" charset="0"/>
                <a:cs typeface="Courier New" panose="02070309020205020404" pitchFamily="49" charset="0"/>
              </a:rPr>
              <a:t>Value of *aPtr is 7</a:t>
            </a:r>
          </a:p>
          <a:p>
            <a:pPr marL="0" indent="0">
              <a:buNone/>
            </a:pPr>
            <a:endParaRPr lang="en-US" sz="2000" dirty="0">
              <a:solidFill>
                <a:schemeClr val="tx1"/>
              </a:solidFill>
              <a:latin typeface="Courier New" panose="02070309020205020404" pitchFamily="49" charset="0"/>
              <a:cs typeface="Courier New" panose="02070309020205020404" pitchFamily="49" charset="0"/>
            </a:endParaRPr>
          </a:p>
          <a:p>
            <a:pPr marL="0" indent="0">
              <a:buNone/>
            </a:pPr>
            <a:r>
              <a:rPr lang="en-US" sz="2000" dirty="0">
                <a:solidFill>
                  <a:schemeClr val="tx1"/>
                </a:solidFill>
                <a:latin typeface="Courier New" panose="02070309020205020404" pitchFamily="49" charset="0"/>
                <a:cs typeface="Courier New" panose="02070309020205020404" pitchFamily="49" charset="0"/>
              </a:rPr>
              <a:t>Showing that * and &amp; are complements of each other</a:t>
            </a:r>
          </a:p>
          <a:p>
            <a:pPr marL="0" indent="0">
              <a:buNone/>
            </a:pPr>
            <a:r>
              <a:rPr lang="en-US" sz="2000" dirty="0">
                <a:solidFill>
                  <a:schemeClr val="tx1"/>
                </a:solidFill>
                <a:latin typeface="Courier New" panose="02070309020205020404" pitchFamily="49" charset="0"/>
                <a:cs typeface="Courier New" panose="02070309020205020404" pitchFamily="49" charset="0"/>
              </a:rPr>
              <a:t>&amp;*aPtr = 0x7fffe69386cc</a:t>
            </a:r>
          </a:p>
          <a:p>
            <a:pPr marL="0" indent="0">
              <a:buNone/>
            </a:pPr>
            <a:r>
              <a:rPr lang="en-US" sz="2000" dirty="0">
                <a:solidFill>
                  <a:schemeClr val="tx1"/>
                </a:solidFill>
                <a:latin typeface="Courier New" panose="02070309020205020404" pitchFamily="49" charset="0"/>
                <a:cs typeface="Courier New" panose="02070309020205020404" pitchFamily="49" charset="0"/>
              </a:rPr>
              <a:t>*&amp;aPtr = 0x7fffe69386cc</a:t>
            </a:r>
          </a:p>
        </p:txBody>
      </p:sp>
    </p:spTree>
    <p:extLst>
      <p:ext uri="{BB962C8B-B14F-4D97-AF65-F5344CB8AC3E}">
        <p14:creationId xmlns:p14="http://schemas.microsoft.com/office/powerpoint/2010/main" val="33210695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7.4 Passing Arguments to Functions by Reference </a:t>
            </a:r>
            <a:r>
              <a:rPr lang="en-US" sz="2000" b="0" dirty="0"/>
              <a:t>(1 of 18)</a:t>
            </a:r>
            <a:endParaRPr lang="en-US" b="0" dirty="0"/>
          </a:p>
        </p:txBody>
      </p:sp>
      <p:sp>
        <p:nvSpPr>
          <p:cNvPr id="3" name="Content Placeholder 2"/>
          <p:cNvSpPr>
            <a:spLocks noGrp="1"/>
          </p:cNvSpPr>
          <p:nvPr>
            <p:ph sz="quarter" idx="13"/>
          </p:nvPr>
        </p:nvSpPr>
        <p:spPr>
          <a:xfrm>
            <a:off x="457200" y="1556327"/>
            <a:ext cx="8119872" cy="4586896"/>
          </a:xfrm>
        </p:spPr>
        <p:txBody>
          <a:bodyPr/>
          <a:lstStyle/>
          <a:p>
            <a:r>
              <a:rPr lang="en-US" sz="1800" dirty="0"/>
              <a:t>By default, arguments (other than arrays) are </a:t>
            </a:r>
            <a:r>
              <a:rPr lang="en-US" sz="1800" b="1" dirty="0"/>
              <a:t>passed by value</a:t>
            </a:r>
            <a:endParaRPr lang="en-US" sz="1800" dirty="0"/>
          </a:p>
          <a:p>
            <a:r>
              <a:rPr lang="en-US" sz="1800" dirty="0"/>
              <a:t>Functions often need to modify variables in the caller or to receive a pointer to a large object to avoid the overhead of copying it (as in pass-by-value)</a:t>
            </a:r>
          </a:p>
          <a:p>
            <a:r>
              <a:rPr lang="en-US" sz="1800" dirty="0"/>
              <a:t>A </a:t>
            </a:r>
            <a:r>
              <a:rPr lang="en-US" sz="1800" dirty="0">
                <a:latin typeface="Courier New" panose="02070309020205020404" pitchFamily="49" charset="0"/>
                <a:cs typeface="Courier New" panose="02070309020205020404" pitchFamily="49" charset="0"/>
              </a:rPr>
              <a:t>return</a:t>
            </a:r>
            <a:r>
              <a:rPr lang="en-US" sz="1800" dirty="0"/>
              <a:t> statement can return at most one value from a called function to its caller—pass-by-reference can enable a function to “return” multiple values by modifying the caller’s variables</a:t>
            </a:r>
          </a:p>
          <a:p>
            <a:r>
              <a:rPr lang="en-US" sz="1800" dirty="0"/>
              <a:t>Pointers and the indirection operator enable pass-by-reference</a:t>
            </a:r>
          </a:p>
          <a:p>
            <a:r>
              <a:rPr lang="en-US" sz="1800" dirty="0"/>
              <a:t>When calling a function with arguments that should be modified in the caller, you use </a:t>
            </a:r>
            <a:r>
              <a:rPr lang="en-US" sz="1800" dirty="0">
                <a:latin typeface="Courier New" panose="02070309020205020404" pitchFamily="49" charset="0"/>
                <a:cs typeface="Courier New" panose="02070309020205020404" pitchFamily="49" charset="0"/>
              </a:rPr>
              <a:t>&amp;</a:t>
            </a:r>
            <a:r>
              <a:rPr lang="en-US" sz="1800" dirty="0"/>
              <a:t> to pass each variable’s address</a:t>
            </a:r>
          </a:p>
          <a:p>
            <a:r>
              <a:rPr lang="en-US" sz="1800" dirty="0"/>
              <a:t>A function that receives the address of a variable in the caller can use the indirection operator (</a:t>
            </a:r>
            <a:r>
              <a:rPr lang="en-US" sz="1800" dirty="0">
                <a:latin typeface="Courier New" panose="02070309020205020404" pitchFamily="49" charset="0"/>
                <a:cs typeface="Courier New" panose="02070309020205020404" pitchFamily="49" charset="0"/>
              </a:rPr>
              <a:t>*</a:t>
            </a:r>
            <a:r>
              <a:rPr lang="en-US" sz="1800" dirty="0"/>
              <a:t>) to modify the value at that location in the caller’s memory, thus effecting pass-by-reference</a:t>
            </a:r>
          </a:p>
        </p:txBody>
      </p:sp>
    </p:spTree>
    <p:extLst>
      <p:ext uri="{BB962C8B-B14F-4D97-AF65-F5344CB8AC3E}">
        <p14:creationId xmlns:p14="http://schemas.microsoft.com/office/powerpoint/2010/main" val="8201885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7.4 Passing Arguments to Functions by Reference </a:t>
            </a:r>
            <a:r>
              <a:rPr lang="en-US" sz="2000" b="0" dirty="0"/>
              <a:t>(2 of 18)</a:t>
            </a:r>
            <a:endParaRPr lang="en-US" b="0" dirty="0"/>
          </a:p>
        </p:txBody>
      </p:sp>
      <p:sp>
        <p:nvSpPr>
          <p:cNvPr id="3" name="Content Placeholder 2"/>
          <p:cNvSpPr>
            <a:spLocks noGrp="1"/>
          </p:cNvSpPr>
          <p:nvPr>
            <p:ph sz="quarter" idx="13"/>
          </p:nvPr>
        </p:nvSpPr>
        <p:spPr/>
        <p:txBody>
          <a:bodyPr/>
          <a:lstStyle/>
          <a:p>
            <a:pPr marL="0" indent="0">
              <a:buNone/>
            </a:pPr>
            <a:r>
              <a:rPr lang="en-US" b="1" dirty="0"/>
              <a:t>Pass-By-Value</a:t>
            </a:r>
            <a:endParaRPr lang="en-US" dirty="0"/>
          </a:p>
          <a:p>
            <a:r>
              <a:rPr lang="en-US" dirty="0"/>
              <a:t>Line 11 of Fig</a:t>
            </a:r>
            <a:r>
              <a:rPr lang="en-US" sz="100" dirty="0"/>
              <a:t>ure</a:t>
            </a:r>
            <a:r>
              <a:rPr lang="en-US" dirty="0"/>
              <a:t> 7.2 passes the variable </a:t>
            </a:r>
            <a:r>
              <a:rPr lang="en-US" dirty="0">
                <a:latin typeface="Courier New" panose="02070309020205020404" pitchFamily="49" charset="0"/>
                <a:cs typeface="Courier New" panose="02070309020205020404" pitchFamily="49" charset="0"/>
              </a:rPr>
              <a:t>number</a:t>
            </a:r>
            <a:r>
              <a:rPr lang="en-US" dirty="0"/>
              <a:t> by value to function </a:t>
            </a:r>
            <a:r>
              <a:rPr lang="en-US" dirty="0">
                <a:latin typeface="Courier New" panose="02070309020205020404" pitchFamily="49" charset="0"/>
                <a:cs typeface="Courier New" panose="02070309020205020404" pitchFamily="49" charset="0"/>
              </a:rPr>
              <a:t>cubeByValue</a:t>
            </a:r>
            <a:r>
              <a:rPr lang="en-US" dirty="0"/>
              <a:t> (lines 16–18), which cubes its argument and returns the new value</a:t>
            </a:r>
          </a:p>
          <a:p>
            <a:r>
              <a:rPr lang="en-US" dirty="0"/>
              <a:t>Line 11 assigns the new value to </a:t>
            </a:r>
            <a:r>
              <a:rPr lang="en-US" dirty="0">
                <a:latin typeface="Courier New" panose="02070309020205020404" pitchFamily="49" charset="0"/>
                <a:cs typeface="Courier New" panose="02070309020205020404" pitchFamily="49" charset="0"/>
              </a:rPr>
              <a:t>number</a:t>
            </a:r>
            <a:r>
              <a:rPr lang="en-US" dirty="0"/>
              <a:t> in </a:t>
            </a:r>
            <a:r>
              <a:rPr lang="en-US" dirty="0">
                <a:latin typeface="Courier New" panose="02070309020205020404" pitchFamily="49" charset="0"/>
                <a:cs typeface="Courier New" panose="02070309020205020404" pitchFamily="49" charset="0"/>
              </a:rPr>
              <a:t>main</a:t>
            </a:r>
            <a:r>
              <a:rPr lang="en-US" dirty="0"/>
              <a:t>, replacing </a:t>
            </a:r>
            <a:r>
              <a:rPr lang="en-US" dirty="0">
                <a:latin typeface="Courier New" panose="02070309020205020404" pitchFamily="49" charset="0"/>
                <a:cs typeface="Courier New" panose="02070309020205020404" pitchFamily="49" charset="0"/>
              </a:rPr>
              <a:t>number</a:t>
            </a:r>
            <a:r>
              <a:rPr lang="en-US" dirty="0"/>
              <a:t>’s value</a:t>
            </a:r>
          </a:p>
        </p:txBody>
      </p:sp>
    </p:spTree>
    <p:extLst>
      <p:ext uri="{BB962C8B-B14F-4D97-AF65-F5344CB8AC3E}">
        <p14:creationId xmlns:p14="http://schemas.microsoft.com/office/powerpoint/2010/main" val="8168368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7.4 Passing Arguments to Functions by Reference </a:t>
            </a:r>
            <a:r>
              <a:rPr lang="en-US" sz="2000" b="0" dirty="0"/>
              <a:t>(3 of 18)</a:t>
            </a:r>
            <a:endParaRPr lang="en-US" b="0" dirty="0"/>
          </a:p>
        </p:txBody>
      </p:sp>
      <p:sp>
        <p:nvSpPr>
          <p:cNvPr id="3" name="Content Placeholder 2"/>
          <p:cNvSpPr>
            <a:spLocks noGrp="1"/>
          </p:cNvSpPr>
          <p:nvPr>
            <p:ph sz="quarter" idx="13"/>
          </p:nvPr>
        </p:nvSpPr>
        <p:spPr>
          <a:xfrm>
            <a:off x="457199" y="1556326"/>
            <a:ext cx="8451669" cy="4788911"/>
          </a:xfrm>
        </p:spPr>
        <p:txBody>
          <a:bodyPr/>
          <a:lstStyle/>
          <a:p>
            <a:pPr marL="514350" indent="-514350">
              <a:spcBef>
                <a:spcPts val="0"/>
              </a:spcBef>
              <a:buFont typeface="+mj-lt"/>
              <a:buAutoNum type="arabicPeriod"/>
            </a:pPr>
            <a:r>
              <a:rPr lang="en-US" sz="1600" dirty="0">
                <a:solidFill>
                  <a:schemeClr val="tx1"/>
                </a:solidFill>
                <a:latin typeface="Courier New" panose="02070309020205020404" pitchFamily="49" charset="0"/>
                <a:cs typeface="Courier New" panose="02070309020205020404" pitchFamily="49" charset="0"/>
              </a:rPr>
              <a:t>// fig07_02.c</a:t>
            </a:r>
          </a:p>
          <a:p>
            <a:pPr marL="514350" indent="-514350">
              <a:spcBef>
                <a:spcPts val="0"/>
              </a:spcBef>
              <a:buFont typeface="+mj-lt"/>
              <a:buAutoNum type="arabicPeriod"/>
            </a:pPr>
            <a:r>
              <a:rPr lang="en-US" sz="1600" dirty="0">
                <a:solidFill>
                  <a:schemeClr val="tx1"/>
                </a:solidFill>
                <a:latin typeface="Courier New" panose="02070309020205020404" pitchFamily="49" charset="0"/>
                <a:cs typeface="Courier New" panose="02070309020205020404" pitchFamily="49" charset="0"/>
              </a:rPr>
              <a:t>// Cube a variable using pass-by-value.</a:t>
            </a:r>
          </a:p>
          <a:p>
            <a:pPr marL="514350" indent="-514350">
              <a:spcBef>
                <a:spcPts val="0"/>
              </a:spcBef>
              <a:buFont typeface="+mj-lt"/>
              <a:buAutoNum type="arabicPeriod"/>
            </a:pPr>
            <a:r>
              <a:rPr lang="en-US" sz="1600" dirty="0">
                <a:solidFill>
                  <a:schemeClr val="tx1"/>
                </a:solidFill>
                <a:latin typeface="Courier New" panose="02070309020205020404" pitchFamily="49" charset="0"/>
                <a:cs typeface="Courier New" panose="02070309020205020404" pitchFamily="49" charset="0"/>
              </a:rPr>
              <a:t>#include &lt;stdio.h&gt;</a:t>
            </a:r>
          </a:p>
          <a:p>
            <a:pPr marL="514350" indent="-514350">
              <a:spcBef>
                <a:spcPts val="0"/>
              </a:spcBef>
              <a:buFont typeface="+mj-lt"/>
              <a:buAutoNum type="arabicPeriod"/>
            </a:pPr>
            <a:r>
              <a:rPr lang="en-US" sz="1600" dirty="0">
                <a:solidFill>
                  <a:schemeClr val="tx1"/>
                </a:solidFill>
                <a:latin typeface="Courier New" panose="02070309020205020404" pitchFamily="49" charset="0"/>
                <a:cs typeface="Courier New" panose="02070309020205020404" pitchFamily="49" charset="0"/>
              </a:rPr>
              <a:t> </a:t>
            </a:r>
          </a:p>
          <a:p>
            <a:pPr marL="514350" indent="-514350">
              <a:spcBef>
                <a:spcPts val="0"/>
              </a:spcBef>
              <a:buFont typeface="+mj-lt"/>
              <a:buAutoNum type="arabicPeriod"/>
            </a:pPr>
            <a:r>
              <a:rPr lang="en-US" sz="1600" dirty="0">
                <a:solidFill>
                  <a:schemeClr val="tx1"/>
                </a:solidFill>
                <a:latin typeface="Courier New" panose="02070309020205020404" pitchFamily="49" charset="0"/>
                <a:cs typeface="Courier New" panose="02070309020205020404" pitchFamily="49" charset="0"/>
              </a:rPr>
              <a:t>int cubeByValue(int n); // prototype</a:t>
            </a:r>
          </a:p>
          <a:p>
            <a:pPr marL="514350" indent="-514350">
              <a:spcBef>
                <a:spcPts val="0"/>
              </a:spcBef>
              <a:buFont typeface="+mj-lt"/>
              <a:buAutoNum type="arabicPeriod"/>
            </a:pPr>
            <a:r>
              <a:rPr lang="en-US" sz="1600" dirty="0">
                <a:solidFill>
                  <a:schemeClr val="tx1"/>
                </a:solidFill>
                <a:latin typeface="Courier New" panose="02070309020205020404" pitchFamily="49" charset="0"/>
                <a:cs typeface="Courier New" panose="02070309020205020404" pitchFamily="49" charset="0"/>
              </a:rPr>
              <a:t> </a:t>
            </a:r>
          </a:p>
          <a:p>
            <a:pPr marL="514350" indent="-514350">
              <a:spcBef>
                <a:spcPts val="0"/>
              </a:spcBef>
              <a:buFont typeface="+mj-lt"/>
              <a:buAutoNum type="arabicPeriod"/>
            </a:pPr>
            <a:r>
              <a:rPr lang="en-US" sz="1600" dirty="0">
                <a:solidFill>
                  <a:schemeClr val="tx1"/>
                </a:solidFill>
                <a:latin typeface="Courier New" panose="02070309020205020404" pitchFamily="49" charset="0"/>
                <a:cs typeface="Courier New" panose="02070309020205020404" pitchFamily="49" charset="0"/>
              </a:rPr>
              <a:t>int main(void) {</a:t>
            </a:r>
          </a:p>
          <a:p>
            <a:pPr marL="514350" indent="-514350">
              <a:spcBef>
                <a:spcPts val="0"/>
              </a:spcBef>
              <a:buFont typeface="+mj-lt"/>
              <a:buAutoNum type="arabicPeriod"/>
            </a:pPr>
            <a:r>
              <a:rPr lang="en-US" sz="1600" dirty="0">
                <a:solidFill>
                  <a:schemeClr val="tx1"/>
                </a:solidFill>
                <a:latin typeface="Courier New" panose="02070309020205020404" pitchFamily="49" charset="0"/>
                <a:cs typeface="Courier New" panose="02070309020205020404" pitchFamily="49" charset="0"/>
              </a:rPr>
              <a:t>   int number = 5; // initialize number</a:t>
            </a:r>
          </a:p>
          <a:p>
            <a:pPr marL="514350" indent="-514350">
              <a:spcBef>
                <a:spcPts val="0"/>
              </a:spcBef>
              <a:buFont typeface="+mj-lt"/>
              <a:buAutoNum type="arabicPeriod"/>
            </a:pPr>
            <a:r>
              <a:rPr lang="en-US" sz="1600" dirty="0">
                <a:solidFill>
                  <a:schemeClr val="tx1"/>
                </a:solidFill>
                <a:latin typeface="Courier New" panose="02070309020205020404" pitchFamily="49" charset="0"/>
                <a:cs typeface="Courier New" panose="02070309020205020404" pitchFamily="49" charset="0"/>
              </a:rPr>
              <a:t> </a:t>
            </a:r>
          </a:p>
          <a:p>
            <a:pPr marL="514350" indent="-514350">
              <a:spcBef>
                <a:spcPts val="0"/>
              </a:spcBef>
              <a:buFont typeface="+mj-lt"/>
              <a:buAutoNum type="arabicPeriod"/>
            </a:pPr>
            <a:r>
              <a:rPr lang="en-US" sz="1600" dirty="0">
                <a:solidFill>
                  <a:schemeClr val="tx1"/>
                </a:solidFill>
                <a:latin typeface="Courier New" panose="02070309020205020404" pitchFamily="49" charset="0"/>
                <a:cs typeface="Courier New" panose="02070309020205020404" pitchFamily="49" charset="0"/>
              </a:rPr>
              <a:t>   printf("The original value of number is %d", number);</a:t>
            </a:r>
          </a:p>
          <a:p>
            <a:pPr marL="514350" indent="-514350">
              <a:spcBef>
                <a:spcPts val="0"/>
              </a:spcBef>
              <a:buFont typeface="+mj-lt"/>
              <a:buAutoNum type="arabicPeriod"/>
            </a:pPr>
            <a:r>
              <a:rPr lang="en-US" sz="1600" dirty="0">
                <a:solidFill>
                  <a:schemeClr val="tx1"/>
                </a:solidFill>
                <a:latin typeface="Courier New" panose="02070309020205020404" pitchFamily="49" charset="0"/>
                <a:cs typeface="Courier New" panose="02070309020205020404" pitchFamily="49" charset="0"/>
              </a:rPr>
              <a:t>   number = cubeByValue(number); // pass number by value to cubeByValue</a:t>
            </a:r>
          </a:p>
          <a:p>
            <a:pPr marL="514350" indent="-514350">
              <a:spcBef>
                <a:spcPts val="0"/>
              </a:spcBef>
              <a:buFont typeface="+mj-lt"/>
              <a:buAutoNum type="arabicPeriod"/>
            </a:pPr>
            <a:r>
              <a:rPr lang="en-US" sz="1600" dirty="0">
                <a:solidFill>
                  <a:schemeClr val="tx1"/>
                </a:solidFill>
                <a:latin typeface="Courier New" panose="02070309020205020404" pitchFamily="49" charset="0"/>
                <a:cs typeface="Courier New" panose="02070309020205020404" pitchFamily="49" charset="0"/>
              </a:rPr>
              <a:t>   printf("\nThe new value of number is %d\n", number);</a:t>
            </a:r>
          </a:p>
          <a:p>
            <a:pPr marL="514350" indent="-514350">
              <a:spcBef>
                <a:spcPts val="0"/>
              </a:spcBef>
              <a:buFont typeface="+mj-lt"/>
              <a:buAutoNum type="arabicPeriod"/>
            </a:pPr>
            <a:r>
              <a:rPr lang="en-US" sz="1600" dirty="0">
                <a:solidFill>
                  <a:schemeClr val="tx1"/>
                </a:solidFill>
                <a:latin typeface="Courier New" panose="02070309020205020404" pitchFamily="49" charset="0"/>
                <a:cs typeface="Courier New" panose="02070309020205020404" pitchFamily="49" charset="0"/>
              </a:rPr>
              <a:t>} </a:t>
            </a:r>
          </a:p>
          <a:p>
            <a:pPr marL="514350" indent="-514350">
              <a:spcBef>
                <a:spcPts val="0"/>
              </a:spcBef>
              <a:buFont typeface="+mj-lt"/>
              <a:buAutoNum type="arabicPeriod"/>
            </a:pPr>
            <a:r>
              <a:rPr lang="en-US" sz="1600" dirty="0">
                <a:solidFill>
                  <a:schemeClr val="tx1"/>
                </a:solidFill>
                <a:latin typeface="Courier New" panose="02070309020205020404" pitchFamily="49" charset="0"/>
                <a:cs typeface="Courier New" panose="02070309020205020404" pitchFamily="49" charset="0"/>
              </a:rPr>
              <a:t> </a:t>
            </a:r>
          </a:p>
          <a:p>
            <a:pPr marL="514350" indent="-514350">
              <a:spcBef>
                <a:spcPts val="0"/>
              </a:spcBef>
              <a:buFont typeface="+mj-lt"/>
              <a:buAutoNum type="arabicPeriod"/>
            </a:pPr>
            <a:r>
              <a:rPr lang="en-US" sz="1600" dirty="0">
                <a:solidFill>
                  <a:schemeClr val="tx1"/>
                </a:solidFill>
                <a:latin typeface="Courier New" panose="02070309020205020404" pitchFamily="49" charset="0"/>
                <a:cs typeface="Courier New" panose="02070309020205020404" pitchFamily="49" charset="0"/>
              </a:rPr>
              <a:t>// calculate and return cube of integer argument</a:t>
            </a:r>
          </a:p>
          <a:p>
            <a:pPr marL="514350" indent="-514350">
              <a:spcBef>
                <a:spcPts val="0"/>
              </a:spcBef>
              <a:buFont typeface="+mj-lt"/>
              <a:buAutoNum type="arabicPeriod"/>
            </a:pPr>
            <a:r>
              <a:rPr lang="en-US" sz="1600" dirty="0">
                <a:solidFill>
                  <a:schemeClr val="tx1"/>
                </a:solidFill>
                <a:latin typeface="Courier New" panose="02070309020205020404" pitchFamily="49" charset="0"/>
                <a:cs typeface="Courier New" panose="02070309020205020404" pitchFamily="49" charset="0"/>
              </a:rPr>
              <a:t>int cubeByValue(int n) {          </a:t>
            </a:r>
          </a:p>
          <a:p>
            <a:pPr marL="514350" indent="-514350">
              <a:spcBef>
                <a:spcPts val="0"/>
              </a:spcBef>
              <a:buFont typeface="+mj-lt"/>
              <a:buAutoNum type="arabicPeriod"/>
            </a:pPr>
            <a:r>
              <a:rPr lang="en-US" sz="1600" dirty="0">
                <a:solidFill>
                  <a:schemeClr val="tx1"/>
                </a:solidFill>
                <a:latin typeface="Courier New" panose="02070309020205020404" pitchFamily="49" charset="0"/>
                <a:cs typeface="Courier New" panose="02070309020205020404" pitchFamily="49" charset="0"/>
              </a:rPr>
              <a:t>   return n * n * n; // cube local variable n and return result</a:t>
            </a:r>
          </a:p>
          <a:p>
            <a:pPr marL="514350" indent="-514350">
              <a:spcBef>
                <a:spcPts val="0"/>
              </a:spcBef>
              <a:buFont typeface="+mj-lt"/>
              <a:buAutoNum type="arabicPeriod"/>
            </a:pPr>
            <a:r>
              <a:rPr lang="en-US" sz="1600" dirty="0">
                <a:solidFill>
                  <a:schemeClr val="tx1"/>
                </a:solidFill>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20019749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7.4 Passing Arguments to Functions by Reference </a:t>
            </a:r>
            <a:r>
              <a:rPr lang="en-US" sz="2000" b="0" dirty="0"/>
              <a:t>(4 of 18)</a:t>
            </a:r>
            <a:endParaRPr lang="en-US" b="0" dirty="0"/>
          </a:p>
        </p:txBody>
      </p:sp>
      <p:sp>
        <p:nvSpPr>
          <p:cNvPr id="3" name="Content Placeholder 2"/>
          <p:cNvSpPr>
            <a:spLocks noGrp="1"/>
          </p:cNvSpPr>
          <p:nvPr>
            <p:ph sz="quarter" idx="13"/>
          </p:nvPr>
        </p:nvSpPr>
        <p:spPr/>
        <p:txBody>
          <a:bodyPr/>
          <a:lstStyle/>
          <a:p>
            <a:pPr marL="0" indent="0">
              <a:buNone/>
            </a:pPr>
            <a:r>
              <a:rPr lang="en-US" dirty="0">
                <a:latin typeface="Courier New" panose="02070309020205020404" pitchFamily="49" charset="0"/>
                <a:cs typeface="Courier New" panose="02070309020205020404" pitchFamily="49" charset="0"/>
              </a:rPr>
              <a:t>The original value of number is 5</a:t>
            </a:r>
          </a:p>
          <a:p>
            <a:pPr marL="0" indent="0">
              <a:buNone/>
            </a:pPr>
            <a:r>
              <a:rPr lang="en-US" dirty="0">
                <a:latin typeface="Courier New" panose="02070309020205020404" pitchFamily="49" charset="0"/>
                <a:cs typeface="Courier New" panose="02070309020205020404" pitchFamily="49" charset="0"/>
              </a:rPr>
              <a:t>The new value of number is 125</a:t>
            </a:r>
          </a:p>
        </p:txBody>
      </p:sp>
    </p:spTree>
    <p:extLst>
      <p:ext uri="{BB962C8B-B14F-4D97-AF65-F5344CB8AC3E}">
        <p14:creationId xmlns:p14="http://schemas.microsoft.com/office/powerpoint/2010/main" val="5362363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7.4 Passing Arguments to Functions by Reference </a:t>
            </a:r>
            <a:r>
              <a:rPr lang="en-US" sz="2000" b="0" dirty="0"/>
              <a:t>(5 of 18)</a:t>
            </a:r>
            <a:endParaRPr lang="en-US" b="0" dirty="0"/>
          </a:p>
        </p:txBody>
      </p:sp>
      <p:sp>
        <p:nvSpPr>
          <p:cNvPr id="3" name="Content Placeholder 2"/>
          <p:cNvSpPr>
            <a:spLocks noGrp="1"/>
          </p:cNvSpPr>
          <p:nvPr>
            <p:ph sz="quarter" idx="13"/>
          </p:nvPr>
        </p:nvSpPr>
        <p:spPr>
          <a:xfrm>
            <a:off x="457200" y="1556327"/>
            <a:ext cx="8438606" cy="4586896"/>
          </a:xfrm>
        </p:spPr>
        <p:txBody>
          <a:bodyPr/>
          <a:lstStyle/>
          <a:p>
            <a:r>
              <a:rPr lang="en-US" sz="2000" dirty="0"/>
              <a:t>Line 12 of Fig</a:t>
            </a:r>
            <a:r>
              <a:rPr lang="en-US" sz="100" dirty="0"/>
              <a:t>ure</a:t>
            </a:r>
            <a:r>
              <a:rPr lang="en-US" sz="2000" dirty="0"/>
              <a:t> 7.3 passes the variable </a:t>
            </a:r>
            <a:r>
              <a:rPr lang="en-US" sz="2000" dirty="0">
                <a:latin typeface="Courier New" panose="02070309020205020404" pitchFamily="49" charset="0"/>
                <a:cs typeface="Courier New" panose="02070309020205020404" pitchFamily="49" charset="0"/>
              </a:rPr>
              <a:t>number</a:t>
            </a:r>
            <a:r>
              <a:rPr lang="en-US" sz="2000" dirty="0"/>
              <a:t>’s address to function </a:t>
            </a:r>
            <a:r>
              <a:rPr lang="en-US" sz="2000" dirty="0">
                <a:latin typeface="Courier New" panose="02070309020205020404" pitchFamily="49" charset="0"/>
                <a:cs typeface="Courier New" panose="02070309020205020404" pitchFamily="49" charset="0"/>
              </a:rPr>
              <a:t>cubeByReference</a:t>
            </a:r>
            <a:r>
              <a:rPr lang="en-US" sz="2000" dirty="0"/>
              <a:t> (lines 17–19)</a:t>
            </a:r>
          </a:p>
          <a:p>
            <a:r>
              <a:rPr lang="en-US" sz="2000" dirty="0"/>
              <a:t>Passing the address enables pass-by-reference</a:t>
            </a:r>
          </a:p>
          <a:p>
            <a:r>
              <a:rPr lang="en-US" sz="2000" dirty="0"/>
              <a:t>The function’s parameter is a pointer to an </a:t>
            </a:r>
            <a:r>
              <a:rPr lang="en-US" sz="2000" dirty="0">
                <a:latin typeface="Courier New" panose="02070309020205020404" pitchFamily="49" charset="0"/>
                <a:cs typeface="Courier New" panose="02070309020205020404" pitchFamily="49" charset="0"/>
              </a:rPr>
              <a:t>int</a:t>
            </a:r>
            <a:r>
              <a:rPr lang="en-US" sz="2000" dirty="0"/>
              <a:t> called </a:t>
            </a:r>
            <a:r>
              <a:rPr lang="en-US" sz="2000" dirty="0">
                <a:latin typeface="Courier New" panose="02070309020205020404" pitchFamily="49" charset="0"/>
                <a:cs typeface="Courier New" panose="02070309020205020404" pitchFamily="49" charset="0"/>
              </a:rPr>
              <a:t>nPtr</a:t>
            </a:r>
            <a:r>
              <a:rPr lang="en-US" sz="2000" dirty="0"/>
              <a:t> (line 17). </a:t>
            </a:r>
          </a:p>
          <a:p>
            <a:r>
              <a:rPr lang="en-US" sz="2000" dirty="0"/>
              <a:t>The expression </a:t>
            </a:r>
            <a:r>
              <a:rPr lang="en-US" sz="2000" dirty="0">
                <a:latin typeface="Courier New" panose="02070309020205020404" pitchFamily="49" charset="0"/>
                <a:cs typeface="Courier New" panose="02070309020205020404" pitchFamily="49" charset="0"/>
              </a:rPr>
              <a:t>*nPtr</a:t>
            </a:r>
            <a:r>
              <a:rPr lang="en-US" sz="2000" dirty="0"/>
              <a:t> dereferences the pointer </a:t>
            </a:r>
          </a:p>
          <a:p>
            <a:r>
              <a:rPr lang="en-US" sz="2000" dirty="0"/>
              <a:t>The function assigns the calculation result to </a:t>
            </a:r>
            <a:r>
              <a:rPr lang="en-US" sz="2000" dirty="0">
                <a:latin typeface="Courier New" panose="02070309020205020404" pitchFamily="49" charset="0"/>
                <a:cs typeface="Courier New" panose="02070309020205020404" pitchFamily="49" charset="0"/>
              </a:rPr>
              <a:t>*nPtr</a:t>
            </a:r>
            <a:r>
              <a:rPr lang="en-US" sz="2000" dirty="0"/>
              <a:t>—which is really the variable </a:t>
            </a:r>
            <a:r>
              <a:rPr lang="en-US" sz="2000" dirty="0">
                <a:latin typeface="Courier New" panose="02070309020205020404" pitchFamily="49" charset="0"/>
                <a:cs typeface="Courier New" panose="02070309020205020404" pitchFamily="49" charset="0"/>
              </a:rPr>
              <a:t>number</a:t>
            </a:r>
            <a:r>
              <a:rPr lang="en-US" sz="2000" dirty="0"/>
              <a:t> in </a:t>
            </a:r>
            <a:r>
              <a:rPr lang="en-US" sz="2000" dirty="0">
                <a:latin typeface="Courier New" panose="02070309020205020404" pitchFamily="49" charset="0"/>
                <a:cs typeface="Courier New" panose="02070309020205020404" pitchFamily="49" charset="0"/>
              </a:rPr>
              <a:t>main</a:t>
            </a:r>
            <a:r>
              <a:rPr lang="en-US" sz="2000" dirty="0"/>
              <a:t>—thus changing </a:t>
            </a:r>
            <a:r>
              <a:rPr lang="en-US" sz="2000" dirty="0">
                <a:latin typeface="Courier New" panose="02070309020205020404" pitchFamily="49" charset="0"/>
                <a:cs typeface="Courier New" panose="02070309020205020404" pitchFamily="49" charset="0"/>
              </a:rPr>
              <a:t>number</a:t>
            </a:r>
            <a:r>
              <a:rPr lang="en-US" sz="2000" dirty="0"/>
              <a:t>’s value in </a:t>
            </a:r>
            <a:r>
              <a:rPr lang="en-US" sz="2000" dirty="0">
                <a:latin typeface="Courier New" panose="02070309020205020404" pitchFamily="49" charset="0"/>
                <a:cs typeface="Courier New" panose="02070309020205020404" pitchFamily="49" charset="0"/>
              </a:rPr>
              <a:t>main</a:t>
            </a:r>
          </a:p>
          <a:p>
            <a:r>
              <a:rPr lang="en-US" sz="2000" dirty="0"/>
              <a:t>Use pass-by-value unless the caller explicitly requires the called function to modify the argument variable’s value in the caller</a:t>
            </a:r>
          </a:p>
          <a:p>
            <a:pPr lvl="1"/>
            <a:r>
              <a:rPr lang="en-US" sz="2000" dirty="0"/>
              <a:t>Prevents accidental modification of the caller’s arguments and is another example of the principle of least privilege</a:t>
            </a:r>
          </a:p>
        </p:txBody>
      </p:sp>
    </p:spTree>
    <p:extLst>
      <p:ext uri="{BB962C8B-B14F-4D97-AF65-F5344CB8AC3E}">
        <p14:creationId xmlns:p14="http://schemas.microsoft.com/office/powerpoint/2010/main" val="35481534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7.4 Passing Arguments to Functions by Reference </a:t>
            </a:r>
            <a:r>
              <a:rPr lang="en-US" sz="2000" b="0" dirty="0"/>
              <a:t>(6 of 18)</a:t>
            </a:r>
            <a:endParaRPr lang="en-US" b="0" dirty="0"/>
          </a:p>
        </p:txBody>
      </p:sp>
      <p:sp>
        <p:nvSpPr>
          <p:cNvPr id="3" name="Content Placeholder 2"/>
          <p:cNvSpPr>
            <a:spLocks noGrp="1"/>
          </p:cNvSpPr>
          <p:nvPr>
            <p:ph sz="quarter" idx="13"/>
          </p:nvPr>
        </p:nvSpPr>
        <p:spPr>
          <a:xfrm>
            <a:off x="457200" y="1556326"/>
            <a:ext cx="8229600" cy="4788911"/>
          </a:xfrm>
        </p:spPr>
        <p:txBody>
          <a:bodyPr/>
          <a:lstStyle/>
          <a:p>
            <a:pPr marL="514350" indent="-514350">
              <a:spcBef>
                <a:spcPts val="300"/>
              </a:spcBef>
              <a:buFont typeface="+mj-lt"/>
              <a:buAutoNum type="arabicPeriod"/>
            </a:pPr>
            <a:r>
              <a:rPr lang="en-US" sz="1600" dirty="0">
                <a:solidFill>
                  <a:schemeClr val="tx1"/>
                </a:solidFill>
                <a:latin typeface="Courier New" panose="02070309020205020404" pitchFamily="49" charset="0"/>
                <a:cs typeface="Courier New" panose="02070309020205020404" pitchFamily="49" charset="0"/>
              </a:rPr>
              <a:t>// fig07_03.c</a:t>
            </a:r>
          </a:p>
          <a:p>
            <a:pPr marL="514350" indent="-514350">
              <a:spcBef>
                <a:spcPts val="300"/>
              </a:spcBef>
              <a:buFont typeface="+mj-lt"/>
              <a:buAutoNum type="arabicPeriod"/>
            </a:pPr>
            <a:r>
              <a:rPr lang="en-US" sz="1600" dirty="0">
                <a:solidFill>
                  <a:schemeClr val="tx1"/>
                </a:solidFill>
                <a:latin typeface="Courier New" panose="02070309020205020404" pitchFamily="49" charset="0"/>
                <a:cs typeface="Courier New" panose="02070309020205020404" pitchFamily="49" charset="0"/>
              </a:rPr>
              <a:t>// Cube a variable using pass-by-reference with a pointer argument.</a:t>
            </a:r>
          </a:p>
          <a:p>
            <a:pPr marL="514350" indent="-514350">
              <a:spcBef>
                <a:spcPts val="300"/>
              </a:spcBef>
              <a:buFont typeface="+mj-lt"/>
              <a:buAutoNum type="arabicPeriod"/>
            </a:pPr>
            <a:r>
              <a:rPr lang="en-US" sz="1600" dirty="0">
                <a:solidFill>
                  <a:schemeClr val="tx1"/>
                </a:solidFill>
                <a:latin typeface="Courier New" panose="02070309020205020404" pitchFamily="49" charset="0"/>
                <a:cs typeface="Courier New" panose="02070309020205020404" pitchFamily="49" charset="0"/>
              </a:rPr>
              <a:t> </a:t>
            </a:r>
          </a:p>
          <a:p>
            <a:pPr marL="514350" indent="-514350">
              <a:spcBef>
                <a:spcPts val="300"/>
              </a:spcBef>
              <a:buFont typeface="+mj-lt"/>
              <a:buAutoNum type="arabicPeriod"/>
            </a:pPr>
            <a:r>
              <a:rPr lang="en-US" sz="1600" dirty="0">
                <a:solidFill>
                  <a:schemeClr val="tx1"/>
                </a:solidFill>
                <a:latin typeface="Courier New" panose="02070309020205020404" pitchFamily="49" charset="0"/>
                <a:cs typeface="Courier New" panose="02070309020205020404" pitchFamily="49" charset="0"/>
              </a:rPr>
              <a:t>#include &lt;stdio.h&gt;</a:t>
            </a:r>
          </a:p>
          <a:p>
            <a:pPr marL="514350" indent="-514350">
              <a:spcBef>
                <a:spcPts val="300"/>
              </a:spcBef>
              <a:buFont typeface="+mj-lt"/>
              <a:buAutoNum type="arabicPeriod"/>
            </a:pPr>
            <a:r>
              <a:rPr lang="en-US" sz="1600" dirty="0">
                <a:solidFill>
                  <a:schemeClr val="tx1"/>
                </a:solidFill>
                <a:latin typeface="Courier New" panose="02070309020205020404" pitchFamily="49" charset="0"/>
                <a:cs typeface="Courier New" panose="02070309020205020404" pitchFamily="49" charset="0"/>
              </a:rPr>
              <a:t> </a:t>
            </a:r>
          </a:p>
          <a:p>
            <a:pPr marL="514350" indent="-514350">
              <a:spcBef>
                <a:spcPts val="300"/>
              </a:spcBef>
              <a:buFont typeface="+mj-lt"/>
              <a:buAutoNum type="arabicPeriod"/>
            </a:pPr>
            <a:r>
              <a:rPr lang="en-US" sz="1600" dirty="0">
                <a:solidFill>
                  <a:schemeClr val="tx1"/>
                </a:solidFill>
                <a:latin typeface="Courier New" panose="02070309020205020404" pitchFamily="49" charset="0"/>
                <a:cs typeface="Courier New" panose="02070309020205020404" pitchFamily="49" charset="0"/>
              </a:rPr>
              <a:t>void cubeByReference(int *nPtr); // function prototype</a:t>
            </a:r>
          </a:p>
          <a:p>
            <a:pPr marL="514350" indent="-514350">
              <a:spcBef>
                <a:spcPts val="300"/>
              </a:spcBef>
              <a:buFont typeface="+mj-lt"/>
              <a:buAutoNum type="arabicPeriod"/>
            </a:pPr>
            <a:r>
              <a:rPr lang="en-US" sz="1600" dirty="0">
                <a:solidFill>
                  <a:schemeClr val="tx1"/>
                </a:solidFill>
                <a:latin typeface="Courier New" panose="02070309020205020404" pitchFamily="49" charset="0"/>
                <a:cs typeface="Courier New" panose="02070309020205020404" pitchFamily="49" charset="0"/>
              </a:rPr>
              <a:t> </a:t>
            </a:r>
          </a:p>
          <a:p>
            <a:pPr marL="514350" indent="-514350">
              <a:spcBef>
                <a:spcPts val="300"/>
              </a:spcBef>
              <a:buFont typeface="+mj-lt"/>
              <a:buAutoNum type="arabicPeriod"/>
            </a:pPr>
            <a:r>
              <a:rPr lang="en-US" sz="1600" dirty="0">
                <a:solidFill>
                  <a:schemeClr val="tx1"/>
                </a:solidFill>
                <a:latin typeface="Courier New" panose="02070309020205020404" pitchFamily="49" charset="0"/>
                <a:cs typeface="Courier New" panose="02070309020205020404" pitchFamily="49" charset="0"/>
              </a:rPr>
              <a:t>int main(void) {</a:t>
            </a:r>
          </a:p>
          <a:p>
            <a:pPr marL="514350" indent="-514350">
              <a:spcBef>
                <a:spcPts val="300"/>
              </a:spcBef>
              <a:buFont typeface="+mj-lt"/>
              <a:buAutoNum type="arabicPeriod"/>
            </a:pPr>
            <a:r>
              <a:rPr lang="en-US" sz="1600" dirty="0">
                <a:solidFill>
                  <a:schemeClr val="tx1"/>
                </a:solidFill>
                <a:latin typeface="Courier New" panose="02070309020205020404" pitchFamily="49" charset="0"/>
                <a:cs typeface="Courier New" panose="02070309020205020404" pitchFamily="49" charset="0"/>
              </a:rPr>
              <a:t>   int number = 5; // initialize number</a:t>
            </a:r>
          </a:p>
          <a:p>
            <a:pPr marL="514350" indent="-514350">
              <a:spcBef>
                <a:spcPts val="300"/>
              </a:spcBef>
              <a:buFont typeface="+mj-lt"/>
              <a:buAutoNum type="arabicPeriod"/>
            </a:pPr>
            <a:r>
              <a:rPr lang="en-US" sz="1600" dirty="0">
                <a:solidFill>
                  <a:schemeClr val="tx1"/>
                </a:solidFill>
                <a:latin typeface="Courier New" panose="02070309020205020404" pitchFamily="49" charset="0"/>
                <a:cs typeface="Courier New" panose="02070309020205020404" pitchFamily="49" charset="0"/>
              </a:rPr>
              <a:t> </a:t>
            </a:r>
          </a:p>
          <a:p>
            <a:pPr marL="514350" indent="-514350">
              <a:spcBef>
                <a:spcPts val="300"/>
              </a:spcBef>
              <a:buFont typeface="+mj-lt"/>
              <a:buAutoNum type="arabicPeriod"/>
            </a:pPr>
            <a:r>
              <a:rPr lang="en-US" sz="1600" dirty="0">
                <a:solidFill>
                  <a:schemeClr val="tx1"/>
                </a:solidFill>
                <a:latin typeface="Courier New" panose="02070309020205020404" pitchFamily="49" charset="0"/>
                <a:cs typeface="Courier New" panose="02070309020205020404" pitchFamily="49" charset="0"/>
              </a:rPr>
              <a:t>   printf("The original value of number is %d", number);</a:t>
            </a:r>
          </a:p>
          <a:p>
            <a:pPr marL="514350" indent="-514350">
              <a:spcBef>
                <a:spcPts val="300"/>
              </a:spcBef>
              <a:buFont typeface="+mj-lt"/>
              <a:buAutoNum type="arabicPeriod"/>
            </a:pPr>
            <a:r>
              <a:rPr lang="en-US" sz="1600" dirty="0">
                <a:solidFill>
                  <a:schemeClr val="tx1"/>
                </a:solidFill>
                <a:latin typeface="Courier New" panose="02070309020205020404" pitchFamily="49" charset="0"/>
                <a:cs typeface="Courier New" panose="02070309020205020404" pitchFamily="49" charset="0"/>
              </a:rPr>
              <a:t>   cubeByReference(&amp;number); // pass address of number to cubeByReference</a:t>
            </a:r>
          </a:p>
          <a:p>
            <a:pPr marL="514350" indent="-514350">
              <a:spcBef>
                <a:spcPts val="300"/>
              </a:spcBef>
              <a:buFont typeface="+mj-lt"/>
              <a:buAutoNum type="arabicPeriod"/>
            </a:pPr>
            <a:r>
              <a:rPr lang="en-US" sz="1600" dirty="0">
                <a:solidFill>
                  <a:schemeClr val="tx1"/>
                </a:solidFill>
                <a:latin typeface="Courier New" panose="02070309020205020404" pitchFamily="49" charset="0"/>
                <a:cs typeface="Courier New" panose="02070309020205020404" pitchFamily="49" charset="0"/>
              </a:rPr>
              <a:t>   printf("\nThe new value of number is %d\n", number);</a:t>
            </a:r>
          </a:p>
          <a:p>
            <a:pPr marL="514350" indent="-514350">
              <a:spcBef>
                <a:spcPts val="300"/>
              </a:spcBef>
              <a:buFont typeface="+mj-lt"/>
              <a:buAutoNum type="arabicPeriod"/>
            </a:pPr>
            <a:r>
              <a:rPr lang="en-US" sz="1600" dirty="0">
                <a:solidFill>
                  <a:schemeClr val="tx1"/>
                </a:solidFill>
                <a:latin typeface="Courier New" panose="02070309020205020404" pitchFamily="49" charset="0"/>
                <a:cs typeface="Courier New" panose="02070309020205020404" pitchFamily="49" charset="0"/>
              </a:rPr>
              <a:t>}</a:t>
            </a:r>
          </a:p>
          <a:p>
            <a:pPr marL="514350" indent="-514350">
              <a:spcBef>
                <a:spcPts val="300"/>
              </a:spcBef>
              <a:buFont typeface="+mj-lt"/>
              <a:buAutoNum type="arabicPeriod"/>
            </a:pPr>
            <a:r>
              <a:rPr lang="en-US" sz="1600" dirty="0">
                <a:solidFill>
                  <a:schemeClr val="tx1"/>
                </a:solidFill>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39129070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7.4 Passing Arguments to Functions by Reference </a:t>
            </a:r>
            <a:r>
              <a:rPr lang="en-US" sz="2000" b="0" dirty="0"/>
              <a:t>(7 of 18)</a:t>
            </a:r>
            <a:endParaRPr lang="en-US" b="0" dirty="0"/>
          </a:p>
        </p:txBody>
      </p:sp>
      <p:sp>
        <p:nvSpPr>
          <p:cNvPr id="3" name="Content Placeholder 2"/>
          <p:cNvSpPr>
            <a:spLocks noGrp="1"/>
          </p:cNvSpPr>
          <p:nvPr>
            <p:ph sz="quarter" idx="13"/>
          </p:nvPr>
        </p:nvSpPr>
        <p:spPr/>
        <p:txBody>
          <a:bodyPr/>
          <a:lstStyle/>
          <a:p>
            <a:pPr marL="514350" indent="-514350">
              <a:spcBef>
                <a:spcPts val="300"/>
              </a:spcBef>
              <a:buFont typeface="+mj-lt"/>
              <a:buAutoNum type="arabicPeriod" startAt="16"/>
            </a:pPr>
            <a:r>
              <a:rPr lang="en-US" sz="1600" dirty="0">
                <a:solidFill>
                  <a:schemeClr val="tx1"/>
                </a:solidFill>
                <a:latin typeface="Courier New" panose="02070309020205020404" pitchFamily="49" charset="0"/>
                <a:cs typeface="Courier New" panose="02070309020205020404" pitchFamily="49" charset="0"/>
              </a:rPr>
              <a:t>// calculate cube of *nPtr; actually modifies number in main</a:t>
            </a:r>
          </a:p>
          <a:p>
            <a:pPr marL="514350" indent="-514350">
              <a:spcBef>
                <a:spcPts val="300"/>
              </a:spcBef>
              <a:buFont typeface="+mj-lt"/>
              <a:buAutoNum type="arabicPeriod" startAt="16"/>
            </a:pPr>
            <a:r>
              <a:rPr lang="en-US" sz="1600" dirty="0">
                <a:solidFill>
                  <a:schemeClr val="tx1"/>
                </a:solidFill>
                <a:latin typeface="Courier New" panose="02070309020205020404" pitchFamily="49" charset="0"/>
                <a:cs typeface="Courier New" panose="02070309020205020404" pitchFamily="49" charset="0"/>
              </a:rPr>
              <a:t>void cubeByReference(int *nPtr) {                           </a:t>
            </a:r>
          </a:p>
          <a:p>
            <a:pPr marL="514350" indent="-514350">
              <a:spcBef>
                <a:spcPts val="300"/>
              </a:spcBef>
              <a:buFont typeface="+mj-lt"/>
              <a:buAutoNum type="arabicPeriod" startAt="16"/>
            </a:pPr>
            <a:r>
              <a:rPr lang="en-US" sz="1600" dirty="0">
                <a:solidFill>
                  <a:schemeClr val="tx1"/>
                </a:solidFill>
                <a:latin typeface="Courier New" panose="02070309020205020404" pitchFamily="49" charset="0"/>
                <a:cs typeface="Courier New" panose="02070309020205020404" pitchFamily="49" charset="0"/>
              </a:rPr>
              <a:t>   *nPtr = *nPtr * *nPtr * *nPtr; // cube *nPtr             </a:t>
            </a:r>
          </a:p>
          <a:p>
            <a:pPr marL="514350" indent="-514350">
              <a:spcBef>
                <a:spcPts val="300"/>
              </a:spcBef>
              <a:buFont typeface="+mj-lt"/>
              <a:buAutoNum type="arabicPeriod" startAt="16"/>
            </a:pPr>
            <a:r>
              <a:rPr lang="en-US" sz="1600" dirty="0">
                <a:solidFill>
                  <a:schemeClr val="tx1"/>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41062157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7.4 Passing Arguments to Functions by Reference </a:t>
            </a:r>
            <a:r>
              <a:rPr lang="en-US" sz="2000" b="0" dirty="0"/>
              <a:t>(8 of 18)</a:t>
            </a:r>
            <a:endParaRPr lang="en-US" b="0" dirty="0"/>
          </a:p>
        </p:txBody>
      </p:sp>
      <p:sp>
        <p:nvSpPr>
          <p:cNvPr id="3" name="Content Placeholder 2"/>
          <p:cNvSpPr>
            <a:spLocks noGrp="1"/>
          </p:cNvSpPr>
          <p:nvPr>
            <p:ph sz="quarter" idx="13"/>
          </p:nvPr>
        </p:nvSpPr>
        <p:spPr/>
        <p:txBody>
          <a:bodyPr/>
          <a:lstStyle/>
          <a:p>
            <a:pPr marL="0" indent="0">
              <a:buNone/>
            </a:pPr>
            <a:r>
              <a:rPr lang="en-US" dirty="0">
                <a:latin typeface="Courier New" panose="02070309020205020404" pitchFamily="49" charset="0"/>
                <a:cs typeface="Courier New" panose="02070309020205020404" pitchFamily="49" charset="0"/>
              </a:rPr>
              <a:t>The original value of number is 5</a:t>
            </a:r>
          </a:p>
          <a:p>
            <a:pPr marL="0" indent="0">
              <a:buNone/>
            </a:pPr>
            <a:r>
              <a:rPr lang="en-US" dirty="0">
                <a:latin typeface="Courier New" panose="02070309020205020404" pitchFamily="49" charset="0"/>
                <a:cs typeface="Courier New" panose="02070309020205020404" pitchFamily="49" charset="0"/>
              </a:rPr>
              <a:t>The new value of number is 125</a:t>
            </a:r>
          </a:p>
        </p:txBody>
      </p:sp>
    </p:spTree>
    <p:extLst>
      <p:ext uri="{BB962C8B-B14F-4D97-AF65-F5344CB8AC3E}">
        <p14:creationId xmlns:p14="http://schemas.microsoft.com/office/powerpoint/2010/main" val="7159237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7.4 Passing Arguments to Functions by Reference </a:t>
            </a:r>
            <a:r>
              <a:rPr lang="en-US" sz="2000" b="0" dirty="0"/>
              <a:t>(9 of 18)</a:t>
            </a:r>
            <a:endParaRPr lang="en-US" b="0" dirty="0"/>
          </a:p>
        </p:txBody>
      </p:sp>
      <p:sp>
        <p:nvSpPr>
          <p:cNvPr id="4" name="Content Placeholder 3"/>
          <p:cNvSpPr>
            <a:spLocks noGrp="1"/>
          </p:cNvSpPr>
          <p:nvPr>
            <p:ph sz="quarter" idx="13"/>
          </p:nvPr>
        </p:nvSpPr>
        <p:spPr>
          <a:xfrm>
            <a:off x="457200" y="1556327"/>
            <a:ext cx="8229600" cy="1448130"/>
          </a:xfrm>
        </p:spPr>
        <p:txBody>
          <a:bodyPr/>
          <a:lstStyle/>
          <a:p>
            <a:pPr marL="0" indent="0">
              <a:buNone/>
            </a:pPr>
            <a:r>
              <a:rPr lang="en-US" sz="2200" b="1" dirty="0"/>
              <a:t>Use a Pointer Parameter to Receive an Address</a:t>
            </a:r>
            <a:endParaRPr lang="en-US" sz="2200" dirty="0"/>
          </a:p>
          <a:p>
            <a:r>
              <a:rPr lang="en-US" sz="2200" dirty="0"/>
              <a:t>A function receiving an address must use a pointer parameter</a:t>
            </a:r>
          </a:p>
          <a:p>
            <a:pPr lvl="1"/>
            <a:r>
              <a:rPr lang="en-US" sz="2200" dirty="0">
                <a:latin typeface="Courier New" panose="02070309020205020404" pitchFamily="49" charset="0"/>
                <a:cs typeface="Courier New" panose="02070309020205020404" pitchFamily="49" charset="0"/>
              </a:rPr>
              <a:t>void cubeByReference(</a:t>
            </a:r>
            <a:r>
              <a:rPr lang="en-US" sz="2200" b="1" dirty="0">
                <a:latin typeface="Courier New" panose="02070309020205020404" pitchFamily="49" charset="0"/>
                <a:cs typeface="Courier New" panose="02070309020205020404" pitchFamily="49" charset="0"/>
              </a:rPr>
              <a:t>int *nPtr</a:t>
            </a:r>
            <a:r>
              <a:rPr lang="en-US" sz="2200" dirty="0">
                <a:latin typeface="Courier New" panose="02070309020205020404" pitchFamily="49" charset="0"/>
                <a:cs typeface="Courier New" panose="02070309020205020404" pitchFamily="49" charset="0"/>
              </a:rPr>
              <a:t>) {</a:t>
            </a:r>
          </a:p>
        </p:txBody>
      </p:sp>
      <p:sp>
        <p:nvSpPr>
          <p:cNvPr id="5" name="Content Placeholder 4"/>
          <p:cNvSpPr>
            <a:spLocks noGrp="1"/>
          </p:cNvSpPr>
          <p:nvPr>
            <p:ph sz="quarter" idx="14"/>
          </p:nvPr>
        </p:nvSpPr>
        <p:spPr>
          <a:xfrm>
            <a:off x="457199" y="3127392"/>
            <a:ext cx="8399417" cy="3064403"/>
          </a:xfrm>
        </p:spPr>
        <p:txBody>
          <a:bodyPr tIns="90000"/>
          <a:lstStyle/>
          <a:p>
            <a:pPr marL="0" indent="0">
              <a:spcBef>
                <a:spcPts val="0"/>
              </a:spcBef>
              <a:buNone/>
            </a:pPr>
            <a:r>
              <a:rPr lang="en-US" sz="2200" b="1" dirty="0"/>
              <a:t>Pointer Parameters in Function Prototypes</a:t>
            </a:r>
            <a:endParaRPr lang="en-US" sz="2200" dirty="0"/>
          </a:p>
          <a:p>
            <a:r>
              <a:rPr lang="en-US" sz="2200" dirty="0"/>
              <a:t>The function prototype for </a:t>
            </a:r>
            <a:r>
              <a:rPr lang="en-US" sz="2200" dirty="0">
                <a:latin typeface="Courier New" panose="02070309020205020404" pitchFamily="49" charset="0"/>
                <a:cs typeface="Courier New" panose="02070309020205020404" pitchFamily="49" charset="0"/>
              </a:rPr>
              <a:t>cubeByReference</a:t>
            </a:r>
            <a:r>
              <a:rPr lang="en-US" sz="2200" dirty="0"/>
              <a:t> (Fig</a:t>
            </a:r>
            <a:r>
              <a:rPr lang="en-US" sz="100" dirty="0"/>
              <a:t>ure</a:t>
            </a:r>
            <a:r>
              <a:rPr lang="en-US" sz="2200" dirty="0"/>
              <a:t> 7.3, line 6) specifies an </a:t>
            </a:r>
            <a:r>
              <a:rPr lang="en-US" sz="2200" dirty="0">
                <a:latin typeface="Courier New" panose="02070309020205020404" pitchFamily="49" charset="0"/>
                <a:cs typeface="Courier New" panose="02070309020205020404" pitchFamily="49" charset="0"/>
              </a:rPr>
              <a:t>int</a:t>
            </a:r>
            <a:r>
              <a:rPr lang="en-US" sz="2200" dirty="0"/>
              <a:t> </a:t>
            </a:r>
            <a:r>
              <a:rPr lang="en-US" sz="2200" dirty="0">
                <a:latin typeface="Courier New" panose="02070309020205020404" pitchFamily="49" charset="0"/>
                <a:cs typeface="Courier New" panose="02070309020205020404" pitchFamily="49" charset="0"/>
              </a:rPr>
              <a:t>*</a:t>
            </a:r>
            <a:r>
              <a:rPr lang="en-US" sz="2200" dirty="0"/>
              <a:t> parameter</a:t>
            </a:r>
          </a:p>
          <a:p>
            <a:r>
              <a:rPr lang="en-US" sz="2200" dirty="0"/>
              <a:t>It’s not necessary to include pointer names in function prototype</a:t>
            </a:r>
          </a:p>
          <a:p>
            <a:pPr lvl="1"/>
            <a:r>
              <a:rPr lang="en-US" sz="2200" dirty="0"/>
              <a:t>They’re ignored by the compiler</a:t>
            </a:r>
          </a:p>
          <a:p>
            <a:pPr lvl="1"/>
            <a:r>
              <a:rPr lang="en-US" sz="2200" dirty="0"/>
              <a:t>But it’s good practice to include them for documentation purposes</a:t>
            </a:r>
          </a:p>
        </p:txBody>
      </p:sp>
    </p:spTree>
    <p:extLst>
      <p:ext uri="{BB962C8B-B14F-4D97-AF65-F5344CB8AC3E}">
        <p14:creationId xmlns:p14="http://schemas.microsoft.com/office/powerpoint/2010/main" val="33508672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7.4 Passing Arguments to Functions by Reference </a:t>
            </a:r>
            <a:r>
              <a:rPr lang="en-US" sz="2000" b="0" dirty="0"/>
              <a:t>(10 of 18)</a:t>
            </a:r>
            <a:endParaRPr lang="en-US" b="0" dirty="0"/>
          </a:p>
        </p:txBody>
      </p:sp>
      <p:sp>
        <p:nvSpPr>
          <p:cNvPr id="3" name="Content Placeholder 2"/>
          <p:cNvSpPr>
            <a:spLocks noGrp="1"/>
          </p:cNvSpPr>
          <p:nvPr>
            <p:ph sz="quarter" idx="13"/>
          </p:nvPr>
        </p:nvSpPr>
        <p:spPr/>
        <p:txBody>
          <a:bodyPr/>
          <a:lstStyle/>
          <a:p>
            <a:pPr marL="0" indent="0">
              <a:buNone/>
            </a:pPr>
            <a:r>
              <a:rPr lang="en-US" b="1" dirty="0"/>
              <a:t>Functions That Receive One-Dimensional Arrays</a:t>
            </a:r>
            <a:endParaRPr lang="en-US" dirty="0"/>
          </a:p>
          <a:p>
            <a:r>
              <a:rPr lang="en-US" dirty="0"/>
              <a:t>The compiler does not differentiate between a function that receives a pointer and one that receives a one-dimensional array</a:t>
            </a:r>
          </a:p>
          <a:p>
            <a:r>
              <a:rPr lang="en-US" dirty="0"/>
              <a:t>The function must “know” when it’s receiving an array versus. a single variable passed by reference</a:t>
            </a:r>
          </a:p>
          <a:p>
            <a:r>
              <a:rPr lang="en-US" dirty="0"/>
              <a:t>A parameter of the form </a:t>
            </a:r>
            <a:r>
              <a:rPr lang="en-US" dirty="0">
                <a:latin typeface="Courier New" panose="02070309020205020404" pitchFamily="49" charset="0"/>
                <a:cs typeface="Courier New" panose="02070309020205020404" pitchFamily="49" charset="0"/>
              </a:rPr>
              <a:t>int</a:t>
            </a:r>
            <a:r>
              <a:rPr lang="en-US" dirty="0"/>
              <a:t> </a:t>
            </a:r>
            <a:r>
              <a:rPr lang="en-US" dirty="0">
                <a:latin typeface="Courier New" panose="02070309020205020404" pitchFamily="49" charset="0"/>
                <a:cs typeface="Courier New" panose="02070309020205020404" pitchFamily="49" charset="0"/>
              </a:rPr>
              <a:t>b[]</a:t>
            </a:r>
            <a:r>
              <a:rPr lang="en-US" dirty="0"/>
              <a:t> is converted to </a:t>
            </a:r>
            <a:r>
              <a:rPr lang="en-US" dirty="0">
                <a:latin typeface="Courier New" panose="02070309020205020404" pitchFamily="49" charset="0"/>
                <a:cs typeface="Courier New" panose="02070309020205020404" pitchFamily="49" charset="0"/>
              </a:rPr>
              <a:t>int</a:t>
            </a:r>
            <a:r>
              <a:rPr lang="en-US" dirty="0"/>
              <a:t> </a:t>
            </a:r>
            <a:r>
              <a:rPr lang="en-US" dirty="0">
                <a:latin typeface="Courier New" panose="02070309020205020404" pitchFamily="49" charset="0"/>
                <a:cs typeface="Courier New" panose="02070309020205020404" pitchFamily="49" charset="0"/>
              </a:rPr>
              <a:t>*b</a:t>
            </a:r>
          </a:p>
          <a:p>
            <a:r>
              <a:rPr lang="en-US" dirty="0"/>
              <a:t>The two forms are interchangeable</a:t>
            </a:r>
          </a:p>
        </p:txBody>
      </p:sp>
    </p:spTree>
    <p:extLst>
      <p:ext uri="{BB962C8B-B14F-4D97-AF65-F5344CB8AC3E}">
        <p14:creationId xmlns:p14="http://schemas.microsoft.com/office/powerpoint/2010/main" val="23372860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7.4 Passing Arguments to Functions by Reference </a:t>
            </a:r>
            <a:r>
              <a:rPr lang="en-US" sz="2000" b="0" dirty="0"/>
              <a:t>(11 of 18)</a:t>
            </a:r>
            <a:endParaRPr lang="en-US" b="0" dirty="0"/>
          </a:p>
        </p:txBody>
      </p:sp>
      <p:sp>
        <p:nvSpPr>
          <p:cNvPr id="4" name="Content Placeholder 3"/>
          <p:cNvSpPr>
            <a:spLocks noGrp="1"/>
          </p:cNvSpPr>
          <p:nvPr>
            <p:ph sz="quarter" idx="13"/>
          </p:nvPr>
        </p:nvSpPr>
        <p:spPr>
          <a:xfrm>
            <a:off x="457200" y="1556327"/>
            <a:ext cx="8229600" cy="559856"/>
          </a:xfrm>
        </p:spPr>
        <p:txBody>
          <a:bodyPr/>
          <a:lstStyle/>
          <a:p>
            <a:pPr marL="0" indent="0">
              <a:buNone/>
            </a:pPr>
            <a:r>
              <a:rPr lang="en-US" b="1" dirty="0"/>
              <a:t>Pass-By-Value Step-By-Step</a:t>
            </a:r>
            <a:endParaRPr lang="en-US" dirty="0"/>
          </a:p>
        </p:txBody>
      </p:sp>
      <p:pic>
        <p:nvPicPr>
          <p:cNvPr id="6" name="Content Placeholder 5" descr="The figure illustrates step 1 of a pass-by-value function. For long description in Notes pane, press F6."/>
          <p:cNvPicPr>
            <a:picLocks noGrp="1" noChangeAspect="1"/>
          </p:cNvPicPr>
          <p:nvPr>
            <p:ph sz="quarter" idx="14"/>
          </p:nvPr>
        </p:nvPicPr>
        <p:blipFill>
          <a:blip r:embed="rId3">
            <a:extLst>
              <a:ext uri="{28A0092B-C50C-407E-A947-70E740481C1C}">
                <a14:useLocalDpi xmlns:a14="http://schemas.microsoft.com/office/drawing/2010/main" val="0"/>
              </a:ext>
            </a:extLst>
          </a:blip>
          <a:stretch>
            <a:fillRect/>
          </a:stretch>
        </p:blipFill>
        <p:spPr>
          <a:xfrm>
            <a:off x="1059353" y="2513200"/>
            <a:ext cx="7025295" cy="2801789"/>
          </a:xfrm>
        </p:spPr>
      </p:pic>
    </p:spTree>
    <p:extLst>
      <p:ext uri="{BB962C8B-B14F-4D97-AF65-F5344CB8AC3E}">
        <p14:creationId xmlns:p14="http://schemas.microsoft.com/office/powerpoint/2010/main" val="18658909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7.4 Passing Arguments to Functions by Reference </a:t>
            </a:r>
            <a:r>
              <a:rPr lang="en-US" sz="2000" b="0" dirty="0"/>
              <a:t>(12 of 18)</a:t>
            </a:r>
            <a:endParaRPr lang="en-US" b="0" dirty="0"/>
          </a:p>
        </p:txBody>
      </p:sp>
      <p:sp>
        <p:nvSpPr>
          <p:cNvPr id="4" name="Content Placeholder 3"/>
          <p:cNvSpPr>
            <a:spLocks noGrp="1"/>
          </p:cNvSpPr>
          <p:nvPr>
            <p:ph sz="quarter" idx="13"/>
          </p:nvPr>
        </p:nvSpPr>
        <p:spPr>
          <a:xfrm>
            <a:off x="457200" y="1556327"/>
            <a:ext cx="8229600" cy="559856"/>
          </a:xfrm>
        </p:spPr>
        <p:txBody>
          <a:bodyPr/>
          <a:lstStyle/>
          <a:p>
            <a:pPr marL="0" indent="0">
              <a:buNone/>
            </a:pPr>
            <a:r>
              <a:rPr lang="en-US" b="1" dirty="0"/>
              <a:t>Pass-By-Value Step-By-Step</a:t>
            </a:r>
            <a:endParaRPr lang="en-US" dirty="0"/>
          </a:p>
        </p:txBody>
      </p:sp>
      <p:pic>
        <p:nvPicPr>
          <p:cNvPr id="5" name="Content Placeholder 4" descr="The figure consists of two parts that illustrate step 2 of a pass-by-value function. For long description in Notes pane, press F6."/>
          <p:cNvPicPr>
            <a:picLocks noGrp="1" noChangeAspect="1"/>
          </p:cNvPicPr>
          <p:nvPr>
            <p:ph sz="quarter" idx="14"/>
          </p:nvPr>
        </p:nvPicPr>
        <p:blipFill>
          <a:blip r:embed="rId3">
            <a:extLst>
              <a:ext uri="{28A0092B-C50C-407E-A947-70E740481C1C}">
                <a14:useLocalDpi xmlns:a14="http://schemas.microsoft.com/office/drawing/2010/main" val="0"/>
              </a:ext>
            </a:extLst>
          </a:blip>
          <a:stretch>
            <a:fillRect/>
          </a:stretch>
        </p:blipFill>
        <p:spPr>
          <a:xfrm>
            <a:off x="548641" y="2333086"/>
            <a:ext cx="8229600" cy="1829603"/>
          </a:xfrm>
        </p:spPr>
      </p:pic>
    </p:spTree>
    <p:extLst>
      <p:ext uri="{BB962C8B-B14F-4D97-AF65-F5344CB8AC3E}">
        <p14:creationId xmlns:p14="http://schemas.microsoft.com/office/powerpoint/2010/main" val="18299417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7.4 Passing Arguments to Functions by Reference </a:t>
            </a:r>
            <a:r>
              <a:rPr lang="en-US" sz="2000" b="0" dirty="0"/>
              <a:t>(13 of 18)</a:t>
            </a:r>
            <a:endParaRPr lang="en-US" b="0" dirty="0"/>
          </a:p>
        </p:txBody>
      </p:sp>
      <p:sp>
        <p:nvSpPr>
          <p:cNvPr id="4" name="Content Placeholder 3"/>
          <p:cNvSpPr>
            <a:spLocks noGrp="1"/>
          </p:cNvSpPr>
          <p:nvPr>
            <p:ph sz="quarter" idx="13"/>
          </p:nvPr>
        </p:nvSpPr>
        <p:spPr>
          <a:xfrm>
            <a:off x="457200" y="1556327"/>
            <a:ext cx="8229600" cy="559856"/>
          </a:xfrm>
        </p:spPr>
        <p:txBody>
          <a:bodyPr/>
          <a:lstStyle/>
          <a:p>
            <a:pPr marL="0" indent="0">
              <a:buNone/>
            </a:pPr>
            <a:r>
              <a:rPr lang="en-US" b="1" dirty="0"/>
              <a:t>Pass-By-Value Step-By-Step</a:t>
            </a:r>
            <a:endParaRPr lang="en-US" dirty="0"/>
          </a:p>
        </p:txBody>
      </p:sp>
      <p:pic>
        <p:nvPicPr>
          <p:cNvPr id="6" name="Content Placeholder 5" descr="The figure consists of two parts that illustrate step 3 of a pass-by-value function. For long description in Notes pane, press F6."/>
          <p:cNvPicPr>
            <a:picLocks noGrp="1" noChangeAspect="1"/>
          </p:cNvPicPr>
          <p:nvPr>
            <p:ph sz="quarter" idx="14"/>
          </p:nvPr>
        </p:nvPicPr>
        <p:blipFill>
          <a:blip r:embed="rId3">
            <a:extLst>
              <a:ext uri="{28A0092B-C50C-407E-A947-70E740481C1C}">
                <a14:useLocalDpi xmlns:a14="http://schemas.microsoft.com/office/drawing/2010/main" val="0"/>
              </a:ext>
            </a:extLst>
          </a:blip>
          <a:stretch>
            <a:fillRect/>
          </a:stretch>
        </p:blipFill>
        <p:spPr>
          <a:xfrm>
            <a:off x="548641" y="2333348"/>
            <a:ext cx="8229600" cy="1802950"/>
          </a:xfrm>
        </p:spPr>
      </p:pic>
    </p:spTree>
    <p:extLst>
      <p:ext uri="{BB962C8B-B14F-4D97-AF65-F5344CB8AC3E}">
        <p14:creationId xmlns:p14="http://schemas.microsoft.com/office/powerpoint/2010/main" val="39596810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7.4 Passing Arguments to Functions by Reference </a:t>
            </a:r>
            <a:r>
              <a:rPr lang="en-US" sz="2000" b="0" dirty="0"/>
              <a:t>(14 of 18)</a:t>
            </a:r>
            <a:endParaRPr lang="en-US" b="0" dirty="0"/>
          </a:p>
        </p:txBody>
      </p:sp>
      <p:sp>
        <p:nvSpPr>
          <p:cNvPr id="4" name="Content Placeholder 3"/>
          <p:cNvSpPr>
            <a:spLocks noGrp="1"/>
          </p:cNvSpPr>
          <p:nvPr>
            <p:ph sz="quarter" idx="13"/>
          </p:nvPr>
        </p:nvSpPr>
        <p:spPr>
          <a:xfrm>
            <a:off x="457200" y="1556327"/>
            <a:ext cx="8229600" cy="559856"/>
          </a:xfrm>
        </p:spPr>
        <p:txBody>
          <a:bodyPr/>
          <a:lstStyle/>
          <a:p>
            <a:pPr marL="0" indent="0">
              <a:buNone/>
            </a:pPr>
            <a:r>
              <a:rPr lang="en-US" b="1" dirty="0"/>
              <a:t>Pass-By-Value Step-By-Step</a:t>
            </a:r>
            <a:endParaRPr lang="en-US" dirty="0"/>
          </a:p>
        </p:txBody>
      </p:sp>
      <p:pic>
        <p:nvPicPr>
          <p:cNvPr id="5" name="Content Placeholder 4" descr="The figure illustrates step 4 of a pass-by-value function. For long description in Notes pane, press F6."/>
          <p:cNvPicPr>
            <a:picLocks noGrp="1" noChangeAspect="1"/>
          </p:cNvPicPr>
          <p:nvPr>
            <p:ph sz="quarter" idx="14"/>
          </p:nvPr>
        </p:nvPicPr>
        <p:blipFill>
          <a:blip r:embed="rId3">
            <a:extLst>
              <a:ext uri="{28A0092B-C50C-407E-A947-70E740481C1C}">
                <a14:useLocalDpi xmlns:a14="http://schemas.microsoft.com/office/drawing/2010/main" val="0"/>
              </a:ext>
            </a:extLst>
          </a:blip>
          <a:stretch>
            <a:fillRect/>
          </a:stretch>
        </p:blipFill>
        <p:spPr>
          <a:xfrm>
            <a:off x="552813" y="2359860"/>
            <a:ext cx="7601953" cy="2105025"/>
          </a:xfrm>
        </p:spPr>
      </p:pic>
    </p:spTree>
    <p:extLst>
      <p:ext uri="{BB962C8B-B14F-4D97-AF65-F5344CB8AC3E}">
        <p14:creationId xmlns:p14="http://schemas.microsoft.com/office/powerpoint/2010/main" val="36998357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7.4 Passing Arguments to Functions by Reference </a:t>
            </a:r>
            <a:r>
              <a:rPr lang="en-US" sz="2000" b="0" dirty="0"/>
              <a:t>(15 of 18)</a:t>
            </a:r>
            <a:endParaRPr lang="en-US" b="0" dirty="0"/>
          </a:p>
        </p:txBody>
      </p:sp>
      <p:sp>
        <p:nvSpPr>
          <p:cNvPr id="4" name="Content Placeholder 3"/>
          <p:cNvSpPr>
            <a:spLocks noGrp="1"/>
          </p:cNvSpPr>
          <p:nvPr>
            <p:ph sz="quarter" idx="13"/>
          </p:nvPr>
        </p:nvSpPr>
        <p:spPr>
          <a:xfrm>
            <a:off x="457200" y="1556327"/>
            <a:ext cx="8229600" cy="559856"/>
          </a:xfrm>
        </p:spPr>
        <p:txBody>
          <a:bodyPr/>
          <a:lstStyle/>
          <a:p>
            <a:pPr marL="0" indent="0">
              <a:buNone/>
            </a:pPr>
            <a:r>
              <a:rPr lang="en-US" b="1" dirty="0"/>
              <a:t>Pass-By-Value Step-By-Step</a:t>
            </a:r>
            <a:endParaRPr lang="en-US" dirty="0"/>
          </a:p>
        </p:txBody>
      </p:sp>
      <p:pic>
        <p:nvPicPr>
          <p:cNvPr id="6" name="Content Placeholder 5" descr="The figure illustrates step 5 of a pass-by-value function. For long description in Notes pane, press F6."/>
          <p:cNvPicPr>
            <a:picLocks noGrp="1" noChangeAspect="1"/>
          </p:cNvPicPr>
          <p:nvPr>
            <p:ph sz="quarter" idx="14"/>
          </p:nvPr>
        </p:nvPicPr>
        <p:blipFill>
          <a:blip r:embed="rId3">
            <a:extLst>
              <a:ext uri="{28A0092B-C50C-407E-A947-70E740481C1C}">
                <a14:useLocalDpi xmlns:a14="http://schemas.microsoft.com/office/drawing/2010/main" val="0"/>
              </a:ext>
            </a:extLst>
          </a:blip>
          <a:stretch>
            <a:fillRect/>
          </a:stretch>
        </p:blipFill>
        <p:spPr>
          <a:xfrm>
            <a:off x="552601" y="2332986"/>
            <a:ext cx="5464999" cy="2315528"/>
          </a:xfrm>
        </p:spPr>
      </p:pic>
    </p:spTree>
    <p:extLst>
      <p:ext uri="{BB962C8B-B14F-4D97-AF65-F5344CB8AC3E}">
        <p14:creationId xmlns:p14="http://schemas.microsoft.com/office/powerpoint/2010/main" val="10999205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7.4 Passing Arguments to Functions by Reference </a:t>
            </a:r>
            <a:r>
              <a:rPr lang="en-US" sz="2000" b="0" dirty="0"/>
              <a:t>(16 of 18)</a:t>
            </a:r>
            <a:endParaRPr lang="en-US" b="0" dirty="0"/>
          </a:p>
        </p:txBody>
      </p:sp>
      <p:sp>
        <p:nvSpPr>
          <p:cNvPr id="4" name="Content Placeholder 3"/>
          <p:cNvSpPr>
            <a:spLocks noGrp="1"/>
          </p:cNvSpPr>
          <p:nvPr>
            <p:ph sz="quarter" idx="13"/>
          </p:nvPr>
        </p:nvSpPr>
        <p:spPr>
          <a:xfrm>
            <a:off x="457200" y="1556327"/>
            <a:ext cx="8229600" cy="559856"/>
          </a:xfrm>
        </p:spPr>
        <p:txBody>
          <a:bodyPr/>
          <a:lstStyle/>
          <a:p>
            <a:pPr marL="0" indent="0">
              <a:buNone/>
            </a:pPr>
            <a:r>
              <a:rPr lang="en-US" b="1" dirty="0"/>
              <a:t>Pass-By-Reference Step-By-Step</a:t>
            </a:r>
            <a:endParaRPr lang="en-US" dirty="0"/>
          </a:p>
        </p:txBody>
      </p:sp>
      <p:pic>
        <p:nvPicPr>
          <p:cNvPr id="5" name="Content Placeholder 4" descr="The figure illustrates step 1 of a pass-by-reference function. For long description in Notes pane, press F6."/>
          <p:cNvPicPr>
            <a:picLocks noGrp="1" noChangeAspect="1"/>
          </p:cNvPicPr>
          <p:nvPr>
            <p:ph sz="quarter" idx="14"/>
          </p:nvPr>
        </p:nvPicPr>
        <p:blipFill>
          <a:blip r:embed="rId3">
            <a:extLst>
              <a:ext uri="{28A0092B-C50C-407E-A947-70E740481C1C}">
                <a14:useLocalDpi xmlns:a14="http://schemas.microsoft.com/office/drawing/2010/main" val="0"/>
              </a:ext>
            </a:extLst>
          </a:blip>
          <a:stretch>
            <a:fillRect/>
          </a:stretch>
        </p:blipFill>
        <p:spPr>
          <a:xfrm>
            <a:off x="549869" y="2280734"/>
            <a:ext cx="5525080" cy="2315528"/>
          </a:xfrm>
        </p:spPr>
      </p:pic>
    </p:spTree>
    <p:extLst>
      <p:ext uri="{BB962C8B-B14F-4D97-AF65-F5344CB8AC3E}">
        <p14:creationId xmlns:p14="http://schemas.microsoft.com/office/powerpoint/2010/main" val="27247339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7.4 Passing Arguments to Functions by Reference </a:t>
            </a:r>
            <a:r>
              <a:rPr lang="en-US" sz="2000" b="0" dirty="0"/>
              <a:t>(17 of 18)</a:t>
            </a:r>
            <a:endParaRPr lang="en-US" b="0" dirty="0"/>
          </a:p>
        </p:txBody>
      </p:sp>
      <p:sp>
        <p:nvSpPr>
          <p:cNvPr id="4" name="Content Placeholder 3"/>
          <p:cNvSpPr>
            <a:spLocks noGrp="1"/>
          </p:cNvSpPr>
          <p:nvPr>
            <p:ph sz="quarter" idx="13"/>
          </p:nvPr>
        </p:nvSpPr>
        <p:spPr>
          <a:xfrm>
            <a:off x="457200" y="1556327"/>
            <a:ext cx="8229600" cy="559856"/>
          </a:xfrm>
        </p:spPr>
        <p:txBody>
          <a:bodyPr/>
          <a:lstStyle/>
          <a:p>
            <a:pPr marL="0" indent="0">
              <a:buNone/>
            </a:pPr>
            <a:r>
              <a:rPr lang="en-US" b="1" dirty="0"/>
              <a:t>Pass-By-Reference Step-By-Step</a:t>
            </a:r>
            <a:endParaRPr lang="en-US" dirty="0"/>
          </a:p>
        </p:txBody>
      </p:sp>
      <p:pic>
        <p:nvPicPr>
          <p:cNvPr id="6" name="Content Placeholder 5" descr="The figure consists of two parts that illustrate step 2 of a pass-by-reference function. For long description in Notes pane, press F6."/>
          <p:cNvPicPr>
            <a:picLocks noGrp="1" noChangeAspect="1"/>
          </p:cNvPicPr>
          <p:nvPr>
            <p:ph sz="quarter" idx="14"/>
          </p:nvPr>
        </p:nvPicPr>
        <p:blipFill>
          <a:blip r:embed="rId3">
            <a:extLst>
              <a:ext uri="{28A0092B-C50C-407E-A947-70E740481C1C}">
                <a14:useLocalDpi xmlns:a14="http://schemas.microsoft.com/office/drawing/2010/main" val="0"/>
              </a:ext>
            </a:extLst>
          </a:blip>
          <a:stretch>
            <a:fillRect/>
          </a:stretch>
        </p:blipFill>
        <p:spPr>
          <a:xfrm>
            <a:off x="512308" y="2365190"/>
            <a:ext cx="8119383" cy="2105025"/>
          </a:xfrm>
        </p:spPr>
      </p:pic>
    </p:spTree>
    <p:extLst>
      <p:ext uri="{BB962C8B-B14F-4D97-AF65-F5344CB8AC3E}">
        <p14:creationId xmlns:p14="http://schemas.microsoft.com/office/powerpoint/2010/main" val="5655470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7.4 Passing Arguments to Functions by Reference </a:t>
            </a:r>
            <a:r>
              <a:rPr lang="en-US" sz="2000" b="0" dirty="0"/>
              <a:t>(18 of 18)</a:t>
            </a:r>
            <a:endParaRPr lang="en-US" b="0" dirty="0"/>
          </a:p>
        </p:txBody>
      </p:sp>
      <p:sp>
        <p:nvSpPr>
          <p:cNvPr id="4" name="Content Placeholder 3"/>
          <p:cNvSpPr>
            <a:spLocks noGrp="1"/>
          </p:cNvSpPr>
          <p:nvPr>
            <p:ph sz="quarter" idx="13"/>
          </p:nvPr>
        </p:nvSpPr>
        <p:spPr>
          <a:xfrm>
            <a:off x="457200" y="1556327"/>
            <a:ext cx="8229600" cy="559856"/>
          </a:xfrm>
        </p:spPr>
        <p:txBody>
          <a:bodyPr/>
          <a:lstStyle/>
          <a:p>
            <a:pPr marL="0" indent="0">
              <a:buNone/>
            </a:pPr>
            <a:r>
              <a:rPr lang="en-US" b="1" dirty="0"/>
              <a:t>Pass-By-Reference Step-By-Step</a:t>
            </a:r>
            <a:endParaRPr lang="en-US" dirty="0"/>
          </a:p>
        </p:txBody>
      </p:sp>
      <p:pic>
        <p:nvPicPr>
          <p:cNvPr id="5" name="Content Placeholder 4" descr="The figure consists of two parts that illustrate step 3 of a pass-by-reference function. For long description in Notes pane, press F6."/>
          <p:cNvPicPr>
            <a:picLocks noGrp="1" noChangeAspect="1"/>
          </p:cNvPicPr>
          <p:nvPr>
            <p:ph sz="quarter" idx="14"/>
          </p:nvPr>
        </p:nvPicPr>
        <p:blipFill>
          <a:blip r:embed="rId3">
            <a:extLst>
              <a:ext uri="{28A0092B-C50C-407E-A947-70E740481C1C}">
                <a14:useLocalDpi xmlns:a14="http://schemas.microsoft.com/office/drawing/2010/main" val="0"/>
              </a:ext>
            </a:extLst>
          </a:blip>
          <a:stretch>
            <a:fillRect/>
          </a:stretch>
        </p:blipFill>
        <p:spPr>
          <a:xfrm>
            <a:off x="546682" y="2350094"/>
            <a:ext cx="8311896" cy="2109097"/>
          </a:xfrm>
        </p:spPr>
      </p:pic>
    </p:spTree>
    <p:extLst>
      <p:ext uri="{BB962C8B-B14F-4D97-AF65-F5344CB8AC3E}">
        <p14:creationId xmlns:p14="http://schemas.microsoft.com/office/powerpoint/2010/main" val="42643038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7.7 sizeof Operator </a:t>
            </a:r>
            <a:r>
              <a:rPr lang="en-US" sz="2000" b="0" dirty="0"/>
              <a:t>(1 of 8)</a:t>
            </a:r>
          </a:p>
        </p:txBody>
      </p:sp>
      <p:sp>
        <p:nvSpPr>
          <p:cNvPr id="3" name="Content Placeholder 2"/>
          <p:cNvSpPr>
            <a:spLocks noGrp="1"/>
          </p:cNvSpPr>
          <p:nvPr>
            <p:ph sz="quarter" idx="13"/>
          </p:nvPr>
        </p:nvSpPr>
        <p:spPr/>
        <p:txBody>
          <a:bodyPr/>
          <a:lstStyle/>
          <a:p>
            <a:r>
              <a:rPr lang="en-US" dirty="0"/>
              <a:t>Operator </a:t>
            </a:r>
            <a:r>
              <a:rPr lang="en-US" b="1" dirty="0"/>
              <a:t>sizeof</a:t>
            </a:r>
            <a:r>
              <a:rPr lang="en-US" dirty="0"/>
              <a:t> determines an object’s or type’s size in bytes</a:t>
            </a:r>
          </a:p>
          <a:p>
            <a:r>
              <a:rPr lang="en-US" dirty="0"/>
              <a:t>Applied at compilation time unless its operand is a variable-length array (V</a:t>
            </a:r>
            <a:r>
              <a:rPr lang="en-US" sz="100" dirty="0"/>
              <a:t> </a:t>
            </a:r>
            <a:r>
              <a:rPr lang="en-US" dirty="0"/>
              <a:t>L</a:t>
            </a:r>
            <a:r>
              <a:rPr lang="en-US" sz="100" dirty="0"/>
              <a:t> </a:t>
            </a:r>
            <a:r>
              <a:rPr lang="en-US" dirty="0"/>
              <a:t>A; Section 6.12)</a:t>
            </a:r>
          </a:p>
          <a:p>
            <a:r>
              <a:rPr lang="en-US" dirty="0"/>
              <a:t>When applied to an array’s name as in Fig</a:t>
            </a:r>
            <a:r>
              <a:rPr lang="en-US" sz="100" dirty="0"/>
              <a:t>ure</a:t>
            </a:r>
            <a:r>
              <a:rPr lang="en-US" dirty="0"/>
              <a:t> 7.12 (line 12), </a:t>
            </a:r>
            <a:r>
              <a:rPr lang="en-US" dirty="0">
                <a:latin typeface="Courier New" panose="02070309020205020404" pitchFamily="49" charset="0"/>
                <a:cs typeface="Courier New" panose="02070309020205020404" pitchFamily="49" charset="0"/>
              </a:rPr>
              <a:t>sizeof</a:t>
            </a:r>
            <a:r>
              <a:rPr lang="en-US" dirty="0"/>
              <a:t> returns as a </a:t>
            </a:r>
            <a:r>
              <a:rPr lang="en-US" dirty="0">
                <a:latin typeface="Courier New" panose="02070309020205020404" pitchFamily="49" charset="0"/>
                <a:cs typeface="Courier New" panose="02070309020205020404" pitchFamily="49" charset="0"/>
              </a:rPr>
              <a:t>size_t</a:t>
            </a:r>
            <a:r>
              <a:rPr lang="en-US" dirty="0"/>
              <a:t> value the array’s total number of bytes</a:t>
            </a:r>
          </a:p>
          <a:p>
            <a:r>
              <a:rPr lang="en-US" dirty="0">
                <a:latin typeface="Courier New" panose="02070309020205020404" pitchFamily="49" charset="0"/>
                <a:cs typeface="Courier New" panose="02070309020205020404" pitchFamily="49" charset="0"/>
              </a:rPr>
              <a:t>sizeof</a:t>
            </a:r>
            <a:r>
              <a:rPr lang="en-US" dirty="0"/>
              <a:t> is a compile-time operator, so it does not incur any execution-time overhead (except for V</a:t>
            </a:r>
            <a:r>
              <a:rPr lang="en-US" sz="100" dirty="0"/>
              <a:t> </a:t>
            </a:r>
            <a:r>
              <a:rPr lang="en-US" dirty="0"/>
              <a:t>L</a:t>
            </a:r>
            <a:r>
              <a:rPr lang="en-US" sz="100" dirty="0"/>
              <a:t> </a:t>
            </a:r>
            <a:r>
              <a:rPr lang="en-US" dirty="0"/>
              <a:t>A</a:t>
            </a:r>
            <a:r>
              <a:rPr lang="en-US" sz="100" dirty="0"/>
              <a:t> </a:t>
            </a:r>
            <a:r>
              <a:rPr lang="en-US" dirty="0"/>
              <a:t>s).</a:t>
            </a:r>
          </a:p>
        </p:txBody>
      </p:sp>
    </p:spTree>
    <p:extLst>
      <p:ext uri="{BB962C8B-B14F-4D97-AF65-F5344CB8AC3E}">
        <p14:creationId xmlns:p14="http://schemas.microsoft.com/office/powerpoint/2010/main" val="18112210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7.8 Pointer Expressions and Pointer Arithmetic</a:t>
            </a:r>
          </a:p>
        </p:txBody>
      </p:sp>
      <p:sp>
        <p:nvSpPr>
          <p:cNvPr id="3" name="Content Placeholder 2"/>
          <p:cNvSpPr>
            <a:spLocks noGrp="1"/>
          </p:cNvSpPr>
          <p:nvPr>
            <p:ph sz="quarter" idx="13"/>
          </p:nvPr>
        </p:nvSpPr>
        <p:spPr/>
        <p:txBody>
          <a:bodyPr/>
          <a:lstStyle/>
          <a:p>
            <a:r>
              <a:rPr lang="en-US" dirty="0"/>
              <a:t>Pointers are valid operands in arithmetic expressions, assignment expressions and comparison expressions</a:t>
            </a:r>
          </a:p>
          <a:p>
            <a:r>
              <a:rPr lang="en-US" dirty="0"/>
              <a:t>Not all arithmetic operators are valid with pointer variables</a:t>
            </a:r>
          </a:p>
          <a:p>
            <a:r>
              <a:rPr lang="en-US" dirty="0"/>
              <a:t>This section describes the operators that can have pointers as operands, and how these operators are used</a:t>
            </a:r>
          </a:p>
        </p:txBody>
      </p:sp>
    </p:spTree>
    <p:extLst>
      <p:ext uri="{BB962C8B-B14F-4D97-AF65-F5344CB8AC3E}">
        <p14:creationId xmlns:p14="http://schemas.microsoft.com/office/powerpoint/2010/main" val="17514993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7.8.1 Pointer Arithmetic Operators</a:t>
            </a:r>
          </a:p>
        </p:txBody>
      </p:sp>
      <p:sp>
        <p:nvSpPr>
          <p:cNvPr id="4" name="Content Placeholder 3"/>
          <p:cNvSpPr>
            <a:spLocks noGrp="1"/>
          </p:cNvSpPr>
          <p:nvPr>
            <p:ph sz="quarter" idx="13"/>
          </p:nvPr>
        </p:nvSpPr>
        <p:spPr>
          <a:xfrm>
            <a:off x="457199" y="1552575"/>
            <a:ext cx="8543109" cy="524419"/>
          </a:xfrm>
        </p:spPr>
        <p:txBody>
          <a:bodyPr/>
          <a:lstStyle/>
          <a:p>
            <a:r>
              <a:rPr lang="en-US" dirty="0"/>
              <a:t>The following arithmetic operations are allowed for pointers:</a:t>
            </a:r>
          </a:p>
        </p:txBody>
      </p:sp>
      <p:sp>
        <p:nvSpPr>
          <p:cNvPr id="5" name="Content Placeholder 4"/>
          <p:cNvSpPr>
            <a:spLocks noGrp="1"/>
          </p:cNvSpPr>
          <p:nvPr>
            <p:ph sz="quarter" idx="14"/>
          </p:nvPr>
        </p:nvSpPr>
        <p:spPr>
          <a:xfrm>
            <a:off x="457200" y="2154361"/>
            <a:ext cx="5676900" cy="552186"/>
          </a:xfrm>
        </p:spPr>
        <p:txBody>
          <a:bodyPr/>
          <a:lstStyle/>
          <a:p>
            <a:pPr lvl="1"/>
            <a:r>
              <a:rPr lang="en-US" dirty="0"/>
              <a:t>incrementing (++) or decrementing</a:t>
            </a:r>
          </a:p>
        </p:txBody>
      </p:sp>
      <p:graphicFrame>
        <p:nvGraphicFramePr>
          <p:cNvPr id="11" name="Object 10" descr="Left parenthesis minus minus right parenthesis comma"/>
          <p:cNvGraphicFramePr>
            <a:graphicFrameLocks noChangeAspect="1"/>
          </p:cNvGraphicFramePr>
          <p:nvPr>
            <p:extLst>
              <p:ext uri="{D42A27DB-BD31-4B8C-83A1-F6EECF244321}">
                <p14:modId xmlns:p14="http://schemas.microsoft.com/office/powerpoint/2010/main" val="527717243"/>
              </p:ext>
            </p:extLst>
          </p:nvPr>
        </p:nvGraphicFramePr>
        <p:xfrm>
          <a:off x="6200775" y="2279650"/>
          <a:ext cx="687388" cy="379413"/>
        </p:xfrm>
        <a:graphic>
          <a:graphicData uri="http://schemas.openxmlformats.org/presentationml/2006/ole">
            <mc:AlternateContent xmlns:mc="http://schemas.openxmlformats.org/markup-compatibility/2006">
              <mc:Choice xmlns:v="urn:schemas-microsoft-com:vml" Requires="v">
                <p:oleObj name="Equation" r:id="rId2" imgW="368280" imgH="203040" progId="Equation.DSMT4">
                  <p:embed/>
                </p:oleObj>
              </mc:Choice>
              <mc:Fallback>
                <p:oleObj name="Equation" r:id="rId2" imgW="368280" imgH="203040" progId="Equation.DSMT4">
                  <p:embed/>
                  <p:pic>
                    <p:nvPicPr>
                      <p:cNvPr id="0" name=""/>
                      <p:cNvPicPr/>
                      <p:nvPr/>
                    </p:nvPicPr>
                    <p:blipFill>
                      <a:blip r:embed="rId3"/>
                      <a:stretch>
                        <a:fillRect/>
                      </a:stretch>
                    </p:blipFill>
                    <p:spPr>
                      <a:xfrm>
                        <a:off x="6200775" y="2279650"/>
                        <a:ext cx="687388" cy="379413"/>
                      </a:xfrm>
                      <a:prstGeom prst="rect">
                        <a:avLst/>
                      </a:prstGeom>
                    </p:spPr>
                  </p:pic>
                </p:oleObj>
              </mc:Fallback>
            </mc:AlternateContent>
          </a:graphicData>
        </a:graphic>
      </p:graphicFrame>
      <p:sp>
        <p:nvSpPr>
          <p:cNvPr id="6" name="Content Placeholder 5"/>
          <p:cNvSpPr>
            <a:spLocks noGrp="1"/>
          </p:cNvSpPr>
          <p:nvPr>
            <p:ph sz="quarter" idx="15"/>
          </p:nvPr>
        </p:nvSpPr>
        <p:spPr>
          <a:xfrm>
            <a:off x="457200" y="2789466"/>
            <a:ext cx="6324600" cy="525368"/>
          </a:xfrm>
        </p:spPr>
        <p:txBody>
          <a:bodyPr/>
          <a:lstStyle/>
          <a:p>
            <a:pPr lvl="1"/>
            <a:r>
              <a:rPr lang="en-US" dirty="0"/>
              <a:t>adding an integer to a pointer (+ or +=),</a:t>
            </a:r>
          </a:p>
        </p:txBody>
      </p:sp>
      <p:sp>
        <p:nvSpPr>
          <p:cNvPr id="7" name="Content Placeholder 6"/>
          <p:cNvSpPr>
            <a:spLocks noGrp="1"/>
          </p:cNvSpPr>
          <p:nvPr>
            <p:ph sz="quarter" idx="16"/>
          </p:nvPr>
        </p:nvSpPr>
        <p:spPr>
          <a:xfrm>
            <a:off x="457200" y="3413433"/>
            <a:ext cx="5905500" cy="525368"/>
          </a:xfrm>
        </p:spPr>
        <p:txBody>
          <a:bodyPr/>
          <a:lstStyle/>
          <a:p>
            <a:pPr lvl="1"/>
            <a:r>
              <a:rPr lang="en-US" dirty="0"/>
              <a:t>subtracting an integer from a pointer</a:t>
            </a:r>
          </a:p>
        </p:txBody>
      </p:sp>
      <p:graphicFrame>
        <p:nvGraphicFramePr>
          <p:cNvPr id="12" name="Object 11" descr="left parenthesis minus or minus equals right parenthesis comma"/>
          <p:cNvGraphicFramePr>
            <a:graphicFrameLocks noChangeAspect="1"/>
          </p:cNvGraphicFramePr>
          <p:nvPr>
            <p:extLst>
              <p:ext uri="{D42A27DB-BD31-4B8C-83A1-F6EECF244321}">
                <p14:modId xmlns:p14="http://schemas.microsoft.com/office/powerpoint/2010/main" val="2094027631"/>
              </p:ext>
            </p:extLst>
          </p:nvPr>
        </p:nvGraphicFramePr>
        <p:xfrm>
          <a:off x="6419850" y="3532188"/>
          <a:ext cx="1273175" cy="377825"/>
        </p:xfrm>
        <a:graphic>
          <a:graphicData uri="http://schemas.openxmlformats.org/presentationml/2006/ole">
            <mc:AlternateContent xmlns:mc="http://schemas.openxmlformats.org/markup-compatibility/2006">
              <mc:Choice xmlns:v="urn:schemas-microsoft-com:vml" Requires="v">
                <p:oleObj name="Equation" r:id="rId4" imgW="685800" imgH="203040" progId="Equation.DSMT4">
                  <p:embed/>
                </p:oleObj>
              </mc:Choice>
              <mc:Fallback>
                <p:oleObj name="Equation" r:id="rId4" imgW="685800" imgH="203040" progId="Equation.DSMT4">
                  <p:embed/>
                  <p:pic>
                    <p:nvPicPr>
                      <p:cNvPr id="11" name="Object 10"/>
                      <p:cNvPicPr/>
                      <p:nvPr/>
                    </p:nvPicPr>
                    <p:blipFill>
                      <a:blip r:embed="rId5"/>
                      <a:stretch>
                        <a:fillRect/>
                      </a:stretch>
                    </p:blipFill>
                    <p:spPr>
                      <a:xfrm>
                        <a:off x="6419850" y="3532188"/>
                        <a:ext cx="1273175" cy="377825"/>
                      </a:xfrm>
                      <a:prstGeom prst="rect">
                        <a:avLst/>
                      </a:prstGeom>
                    </p:spPr>
                  </p:pic>
                </p:oleObj>
              </mc:Fallback>
            </mc:AlternateContent>
          </a:graphicData>
        </a:graphic>
      </p:graphicFrame>
      <p:sp>
        <p:nvSpPr>
          <p:cNvPr id="8" name="Content Placeholder 7"/>
          <p:cNvSpPr>
            <a:spLocks noGrp="1"/>
          </p:cNvSpPr>
          <p:nvPr>
            <p:ph sz="quarter" idx="17"/>
          </p:nvPr>
        </p:nvSpPr>
        <p:spPr>
          <a:xfrm>
            <a:off x="7793444" y="3500396"/>
            <a:ext cx="736600" cy="432955"/>
          </a:xfrm>
        </p:spPr>
        <p:txBody>
          <a:bodyPr lIns="0" tIns="0" rIns="0" bIns="0"/>
          <a:lstStyle/>
          <a:p>
            <a:pPr marL="0" lvl="1" indent="0">
              <a:buNone/>
            </a:pPr>
            <a:r>
              <a:rPr lang="en-US" dirty="0"/>
              <a:t>and</a:t>
            </a:r>
          </a:p>
        </p:txBody>
      </p:sp>
      <p:sp>
        <p:nvSpPr>
          <p:cNvPr id="9" name="Content Placeholder 8"/>
          <p:cNvSpPr>
            <a:spLocks noGrp="1"/>
          </p:cNvSpPr>
          <p:nvPr>
            <p:ph sz="quarter" idx="18"/>
          </p:nvPr>
        </p:nvSpPr>
        <p:spPr>
          <a:xfrm>
            <a:off x="457200" y="4050813"/>
            <a:ext cx="8445500" cy="911203"/>
          </a:xfrm>
        </p:spPr>
        <p:txBody>
          <a:bodyPr/>
          <a:lstStyle/>
          <a:p>
            <a:pPr lvl="1"/>
            <a:r>
              <a:rPr lang="en-US" dirty="0"/>
              <a:t>subtracting one pointer from another—meaningful only when </a:t>
            </a:r>
            <a:r>
              <a:rPr lang="en-US" b="1" dirty="0"/>
              <a:t>both</a:t>
            </a:r>
            <a:r>
              <a:rPr lang="en-US" dirty="0"/>
              <a:t> pointers point into the </a:t>
            </a:r>
            <a:r>
              <a:rPr lang="en-US" b="1" dirty="0"/>
              <a:t>same</a:t>
            </a:r>
            <a:r>
              <a:rPr lang="en-US" dirty="0"/>
              <a:t> array.</a:t>
            </a:r>
          </a:p>
        </p:txBody>
      </p:sp>
      <p:sp>
        <p:nvSpPr>
          <p:cNvPr id="10" name="Content Placeholder 9"/>
          <p:cNvSpPr>
            <a:spLocks noGrp="1"/>
          </p:cNvSpPr>
          <p:nvPr>
            <p:ph sz="quarter" idx="19"/>
          </p:nvPr>
        </p:nvSpPr>
        <p:spPr>
          <a:xfrm>
            <a:off x="457200" y="5049876"/>
            <a:ext cx="8229600" cy="912737"/>
          </a:xfrm>
        </p:spPr>
        <p:txBody>
          <a:bodyPr/>
          <a:lstStyle/>
          <a:p>
            <a:r>
              <a:rPr lang="en-US" dirty="0"/>
              <a:t>Pointer arithmetic on pointers that do not refer to array elements is a logic error. </a:t>
            </a:r>
          </a:p>
        </p:txBody>
      </p:sp>
    </p:spTree>
    <p:extLst>
      <p:ext uri="{BB962C8B-B14F-4D97-AF65-F5344CB8AC3E}">
        <p14:creationId xmlns:p14="http://schemas.microsoft.com/office/powerpoint/2010/main" val="7113793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7.8.2 Aiming a Pointer at an Array</a:t>
            </a:r>
          </a:p>
        </p:txBody>
      </p:sp>
      <p:sp>
        <p:nvSpPr>
          <p:cNvPr id="4" name="Content Placeholder 3"/>
          <p:cNvSpPr>
            <a:spLocks noGrp="1"/>
          </p:cNvSpPr>
          <p:nvPr>
            <p:ph sz="quarter" idx="13"/>
          </p:nvPr>
        </p:nvSpPr>
        <p:spPr>
          <a:xfrm>
            <a:off x="457201" y="1556326"/>
            <a:ext cx="4114800" cy="4478714"/>
          </a:xfrm>
        </p:spPr>
        <p:txBody>
          <a:bodyPr/>
          <a:lstStyle/>
          <a:p>
            <a:r>
              <a:rPr lang="en-US" sz="2000" dirty="0"/>
              <a:t>Assume </a:t>
            </a:r>
            <a:r>
              <a:rPr lang="en-US" sz="2000" dirty="0">
                <a:latin typeface="Courier New" panose="02070309020205020404" pitchFamily="49" charset="0"/>
                <a:cs typeface="Courier New" panose="02070309020205020404" pitchFamily="49" charset="0"/>
              </a:rPr>
              <a:t>int</a:t>
            </a:r>
            <a:r>
              <a:rPr lang="en-US" sz="2000" dirty="0"/>
              <a:t> </a:t>
            </a:r>
            <a:r>
              <a:rPr lang="en-US" sz="2000" dirty="0">
                <a:latin typeface="Courier New" panose="02070309020205020404" pitchFamily="49" charset="0"/>
                <a:cs typeface="Courier New" panose="02070309020205020404" pitchFamily="49" charset="0"/>
              </a:rPr>
              <a:t>v[5]</a:t>
            </a:r>
            <a:r>
              <a:rPr lang="en-US" sz="2000" dirty="0"/>
              <a:t> is defined, and its first element is at location </a:t>
            </a:r>
            <a:r>
              <a:rPr lang="en-US" sz="2000" dirty="0">
                <a:latin typeface="Courier New" panose="02070309020205020404" pitchFamily="49" charset="0"/>
                <a:cs typeface="Courier New" panose="02070309020205020404" pitchFamily="49" charset="0"/>
              </a:rPr>
              <a:t>3000</a:t>
            </a:r>
          </a:p>
          <a:p>
            <a:r>
              <a:rPr lang="en-US" sz="2000" dirty="0"/>
              <a:t>Assume </a:t>
            </a:r>
            <a:r>
              <a:rPr lang="en-US" sz="2000" dirty="0">
                <a:latin typeface="Courier New" panose="02070309020205020404" pitchFamily="49" charset="0"/>
                <a:cs typeface="Courier New" panose="02070309020205020404" pitchFamily="49" charset="0"/>
              </a:rPr>
              <a:t>vPtr</a:t>
            </a:r>
            <a:r>
              <a:rPr lang="en-US" sz="2000" dirty="0"/>
              <a:t> points to </a:t>
            </a:r>
            <a:r>
              <a:rPr lang="en-US" sz="2000" dirty="0">
                <a:latin typeface="Courier New" panose="02070309020205020404" pitchFamily="49" charset="0"/>
                <a:cs typeface="Courier New" panose="02070309020205020404" pitchFamily="49" charset="0"/>
              </a:rPr>
              <a:t>v[0]</a:t>
            </a:r>
          </a:p>
          <a:p>
            <a:r>
              <a:rPr lang="en-US" sz="2000" dirty="0"/>
              <a:t>The following diagram illustrates this scenario for a machine with four-byte integers </a:t>
            </a:r>
          </a:p>
          <a:p>
            <a:r>
              <a:rPr lang="en-US" sz="2000" dirty="0">
                <a:latin typeface="Courier New" panose="02070309020205020404" pitchFamily="49" charset="0"/>
                <a:cs typeface="Courier New" panose="02070309020205020404" pitchFamily="49" charset="0"/>
              </a:rPr>
              <a:t>vPtr</a:t>
            </a:r>
            <a:r>
              <a:rPr lang="en-US" sz="2000" dirty="0"/>
              <a:t> can be initialized to point to </a:t>
            </a:r>
            <a:r>
              <a:rPr lang="en-US" sz="2000" dirty="0">
                <a:latin typeface="Courier New" panose="02070309020205020404" pitchFamily="49" charset="0"/>
                <a:cs typeface="Courier New" panose="02070309020205020404" pitchFamily="49" charset="0"/>
              </a:rPr>
              <a:t>v</a:t>
            </a:r>
            <a:r>
              <a:rPr lang="en-US" sz="2000" dirty="0"/>
              <a:t> with either of the statements</a:t>
            </a:r>
          </a:p>
          <a:p>
            <a:pPr lvl="1"/>
            <a:r>
              <a:rPr lang="en-US" sz="2000" dirty="0">
                <a:latin typeface="Courier New" panose="02070309020205020404" pitchFamily="49" charset="0"/>
                <a:cs typeface="Courier New" panose="02070309020205020404" pitchFamily="49" charset="0"/>
              </a:rPr>
              <a:t>vPtr = v;</a:t>
            </a:r>
          </a:p>
          <a:p>
            <a:pPr lvl="1"/>
            <a:r>
              <a:rPr lang="en-US" sz="2000" dirty="0">
                <a:latin typeface="Courier New" panose="02070309020205020404" pitchFamily="49" charset="0"/>
                <a:cs typeface="Courier New" panose="02070309020205020404" pitchFamily="49" charset="0"/>
              </a:rPr>
              <a:t>vPtr = &amp;v[0];</a:t>
            </a:r>
          </a:p>
        </p:txBody>
      </p:sp>
      <p:pic>
        <p:nvPicPr>
          <p:cNvPr id="6" name="Content Placeholder 5" descr="The figure illustrates a pointer pointing to an element in an array. For long description in Notes pane, press F6."/>
          <p:cNvPicPr>
            <a:picLocks noGrp="1" noChangeAspect="1"/>
          </p:cNvPicPr>
          <p:nvPr>
            <p:ph sz="quarter" idx="14"/>
          </p:nvPr>
        </p:nvPicPr>
        <p:blipFill>
          <a:blip r:embed="rId3">
            <a:extLst>
              <a:ext uri="{28A0092B-C50C-407E-A947-70E740481C1C}">
                <a14:useLocalDpi xmlns:a14="http://schemas.microsoft.com/office/drawing/2010/main" val="0"/>
              </a:ext>
            </a:extLst>
          </a:blip>
          <a:stretch>
            <a:fillRect/>
          </a:stretch>
        </p:blipFill>
        <p:spPr>
          <a:xfrm>
            <a:off x="4805966" y="1685307"/>
            <a:ext cx="4129519" cy="1828432"/>
          </a:xfrm>
        </p:spPr>
      </p:pic>
    </p:spTree>
    <p:extLst>
      <p:ext uri="{BB962C8B-B14F-4D97-AF65-F5344CB8AC3E}">
        <p14:creationId xmlns:p14="http://schemas.microsoft.com/office/powerpoint/2010/main" val="13931368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7.8.3 Adding an Integer to a Pointer</a:t>
            </a:r>
          </a:p>
        </p:txBody>
      </p:sp>
      <p:sp>
        <p:nvSpPr>
          <p:cNvPr id="4" name="Content Placeholder 3"/>
          <p:cNvSpPr>
            <a:spLocks noGrp="1"/>
          </p:cNvSpPr>
          <p:nvPr>
            <p:ph sz="quarter" idx="13"/>
          </p:nvPr>
        </p:nvSpPr>
        <p:spPr>
          <a:xfrm>
            <a:off x="457200" y="1556326"/>
            <a:ext cx="4138919" cy="4478714"/>
          </a:xfrm>
        </p:spPr>
        <p:txBody>
          <a:bodyPr/>
          <a:lstStyle/>
          <a:p>
            <a:r>
              <a:rPr lang="en-US" sz="2000" dirty="0"/>
              <a:t>In arithmetic, 3000 + 2 yields the value 3002</a:t>
            </a:r>
          </a:p>
          <a:p>
            <a:pPr lvl="1"/>
            <a:r>
              <a:rPr lang="en-US" sz="2000" dirty="0"/>
              <a:t>Normally not the case with pointer arithmetic</a:t>
            </a:r>
          </a:p>
          <a:p>
            <a:r>
              <a:rPr lang="en-US" sz="2000" dirty="0"/>
              <a:t>Adding an integer to or subtracting one from a pointer increments or decrements by that integer </a:t>
            </a:r>
            <a:r>
              <a:rPr lang="en-US" sz="2000" b="1" dirty="0"/>
              <a:t>times the size of the object to which the pointer refers</a:t>
            </a:r>
          </a:p>
          <a:p>
            <a:r>
              <a:rPr lang="en-US" sz="2000" dirty="0"/>
              <a:t>The diagram shows result of </a:t>
            </a:r>
            <a:r>
              <a:rPr lang="en-US" sz="2000" dirty="0">
                <a:latin typeface="Courier New" panose="02070309020205020404" pitchFamily="49" charset="0"/>
                <a:cs typeface="Courier New" panose="02070309020205020404" pitchFamily="49" charset="0"/>
              </a:rPr>
              <a:t>vPtr += 2;</a:t>
            </a:r>
            <a:r>
              <a:rPr lang="en-US" sz="2000" dirty="0"/>
              <a:t> for 4-byte objects</a:t>
            </a:r>
          </a:p>
        </p:txBody>
      </p:sp>
      <p:pic>
        <p:nvPicPr>
          <p:cNvPr id="8" name="Content Placeholder 7" descr="The figure illustrates a pointer pointing to an element in an array. For long description in Notes pane, press F6."/>
          <p:cNvPicPr>
            <a:picLocks noGrp="1" noChangeAspect="1"/>
          </p:cNvPicPr>
          <p:nvPr>
            <p:ph sz="quarter" idx="14"/>
          </p:nvPr>
        </p:nvPicPr>
        <p:blipFill>
          <a:blip r:embed="rId3">
            <a:extLst>
              <a:ext uri="{28A0092B-C50C-407E-A947-70E740481C1C}">
                <a14:useLocalDpi xmlns:a14="http://schemas.microsoft.com/office/drawing/2010/main" val="0"/>
              </a:ext>
            </a:extLst>
          </a:blip>
          <a:stretch>
            <a:fillRect/>
          </a:stretch>
        </p:blipFill>
        <p:spPr>
          <a:xfrm>
            <a:off x="4777488" y="1678247"/>
            <a:ext cx="4211170" cy="1894712"/>
          </a:xfrm>
        </p:spPr>
      </p:pic>
    </p:spTree>
    <p:extLst>
      <p:ext uri="{BB962C8B-B14F-4D97-AF65-F5344CB8AC3E}">
        <p14:creationId xmlns:p14="http://schemas.microsoft.com/office/powerpoint/2010/main" val="24978736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7.8.4 Subtracting an Integer From a Pointer</a:t>
            </a:r>
          </a:p>
        </p:txBody>
      </p:sp>
      <p:sp>
        <p:nvSpPr>
          <p:cNvPr id="3" name="Content Placeholder 2"/>
          <p:cNvSpPr>
            <a:spLocks noGrp="1"/>
          </p:cNvSpPr>
          <p:nvPr>
            <p:ph sz="quarter" idx="13"/>
          </p:nvPr>
        </p:nvSpPr>
        <p:spPr/>
        <p:txBody>
          <a:bodyPr/>
          <a:lstStyle/>
          <a:p>
            <a:r>
              <a:rPr lang="en-US" dirty="0"/>
              <a:t>If </a:t>
            </a:r>
            <a:r>
              <a:rPr lang="en-US" dirty="0">
                <a:latin typeface="Courier New" panose="02070309020205020404" pitchFamily="49" charset="0"/>
                <a:cs typeface="Courier New" panose="02070309020205020404" pitchFamily="49" charset="0"/>
              </a:rPr>
              <a:t>vPtr</a:t>
            </a:r>
            <a:r>
              <a:rPr lang="en-US" dirty="0"/>
              <a:t> contains 3016 (</a:t>
            </a:r>
            <a:r>
              <a:rPr lang="en-US" dirty="0">
                <a:latin typeface="Courier New" panose="02070309020205020404" pitchFamily="49" charset="0"/>
                <a:cs typeface="Courier New" panose="02070309020205020404" pitchFamily="49" charset="0"/>
              </a:rPr>
              <a:t>v[4]</a:t>
            </a:r>
            <a:r>
              <a:rPr lang="en-US" dirty="0"/>
              <a:t>), the following statement would set </a:t>
            </a:r>
            <a:r>
              <a:rPr lang="en-US" dirty="0">
                <a:latin typeface="Courier New" panose="02070309020205020404" pitchFamily="49" charset="0"/>
                <a:cs typeface="Courier New" panose="02070309020205020404" pitchFamily="49" charset="0"/>
              </a:rPr>
              <a:t>vPtr</a:t>
            </a:r>
            <a:r>
              <a:rPr lang="en-US" dirty="0"/>
              <a:t> back to 3000 (</a:t>
            </a:r>
            <a:r>
              <a:rPr lang="en-US" dirty="0">
                <a:latin typeface="Courier New" panose="02070309020205020404" pitchFamily="49" charset="0"/>
                <a:cs typeface="Courier New" panose="02070309020205020404" pitchFamily="49" charset="0"/>
              </a:rPr>
              <a:t>v[0]</a:t>
            </a:r>
            <a:r>
              <a:rPr lang="en-US" dirty="0"/>
              <a:t>)—the beginning of the array. </a:t>
            </a:r>
          </a:p>
          <a:p>
            <a:pPr lvl="1"/>
            <a:r>
              <a:rPr lang="en-US" dirty="0">
                <a:latin typeface="Courier New" panose="02070309020205020404" pitchFamily="49" charset="0"/>
                <a:cs typeface="Courier New" panose="02070309020205020404" pitchFamily="49" charset="0"/>
              </a:rPr>
              <a:t>vPtr −= 4;</a:t>
            </a:r>
          </a:p>
          <a:p>
            <a:r>
              <a:rPr lang="en-US" dirty="0"/>
              <a:t>Using pointer arithmetic to adjust pointers to point outside an array’s bounds is a logic error that could lead to security problems.</a:t>
            </a:r>
          </a:p>
        </p:txBody>
      </p:sp>
    </p:spTree>
    <p:extLst>
      <p:ext uri="{BB962C8B-B14F-4D97-AF65-F5344CB8AC3E}">
        <p14:creationId xmlns:p14="http://schemas.microsoft.com/office/powerpoint/2010/main" val="25274882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7.8.5 Incrementing and Decrementing a Pointer</a:t>
            </a:r>
          </a:p>
        </p:txBody>
      </p:sp>
      <p:sp>
        <p:nvSpPr>
          <p:cNvPr id="4" name="Content Placeholder 3"/>
          <p:cNvSpPr>
            <a:spLocks noGrp="1"/>
          </p:cNvSpPr>
          <p:nvPr>
            <p:ph sz="quarter" idx="13"/>
          </p:nvPr>
        </p:nvSpPr>
        <p:spPr>
          <a:xfrm>
            <a:off x="457200" y="1552574"/>
            <a:ext cx="8229600" cy="524419"/>
          </a:xfrm>
        </p:spPr>
        <p:txBody>
          <a:bodyPr/>
          <a:lstStyle/>
          <a:p>
            <a:r>
              <a:rPr lang="en-US" dirty="0"/>
              <a:t>To increment or decrement a pointer by one, use the</a:t>
            </a:r>
          </a:p>
        </p:txBody>
      </p:sp>
      <p:sp>
        <p:nvSpPr>
          <p:cNvPr id="5" name="Content Placeholder 4"/>
          <p:cNvSpPr>
            <a:spLocks noGrp="1"/>
          </p:cNvSpPr>
          <p:nvPr>
            <p:ph sz="quarter" idx="14"/>
          </p:nvPr>
        </p:nvSpPr>
        <p:spPr>
          <a:xfrm>
            <a:off x="847270" y="2163008"/>
            <a:ext cx="4226379" cy="436501"/>
          </a:xfrm>
        </p:spPr>
        <p:txBody>
          <a:bodyPr lIns="0" tIns="0" rIns="0" bIns="0"/>
          <a:lstStyle/>
          <a:p>
            <a:pPr marL="432" indent="0">
              <a:buNone/>
            </a:pPr>
            <a:r>
              <a:rPr lang="en-US" dirty="0"/>
              <a:t>increment (++) and decrement</a:t>
            </a:r>
          </a:p>
        </p:txBody>
      </p:sp>
      <p:graphicFrame>
        <p:nvGraphicFramePr>
          <p:cNvPr id="11" name="Object 10" descr="Left parenthesis minus minus right parenthesis comma"/>
          <p:cNvGraphicFramePr>
            <a:graphicFrameLocks noChangeAspect="1"/>
          </p:cNvGraphicFramePr>
          <p:nvPr>
            <p:extLst>
              <p:ext uri="{D42A27DB-BD31-4B8C-83A1-F6EECF244321}">
                <p14:modId xmlns:p14="http://schemas.microsoft.com/office/powerpoint/2010/main" val="1241237270"/>
              </p:ext>
            </p:extLst>
          </p:nvPr>
        </p:nvGraphicFramePr>
        <p:xfrm>
          <a:off x="5149850" y="2178050"/>
          <a:ext cx="615950" cy="379413"/>
        </p:xfrm>
        <a:graphic>
          <a:graphicData uri="http://schemas.openxmlformats.org/presentationml/2006/ole">
            <mc:AlternateContent xmlns:mc="http://schemas.openxmlformats.org/markup-compatibility/2006">
              <mc:Choice xmlns:v="urn:schemas-microsoft-com:vml" Requires="v">
                <p:oleObj name="Equation" r:id="rId2" imgW="330120" imgH="203040" progId="Equation.DSMT4">
                  <p:embed/>
                </p:oleObj>
              </mc:Choice>
              <mc:Fallback>
                <p:oleObj name="Equation" r:id="rId2" imgW="330120" imgH="203040" progId="Equation.DSMT4">
                  <p:embed/>
                  <p:pic>
                    <p:nvPicPr>
                      <p:cNvPr id="11" name="Object 10"/>
                      <p:cNvPicPr/>
                      <p:nvPr/>
                    </p:nvPicPr>
                    <p:blipFill>
                      <a:blip r:embed="rId3"/>
                      <a:stretch>
                        <a:fillRect/>
                      </a:stretch>
                    </p:blipFill>
                    <p:spPr>
                      <a:xfrm>
                        <a:off x="5149850" y="2178050"/>
                        <a:ext cx="615950" cy="379413"/>
                      </a:xfrm>
                      <a:prstGeom prst="rect">
                        <a:avLst/>
                      </a:prstGeom>
                    </p:spPr>
                  </p:pic>
                </p:oleObj>
              </mc:Fallback>
            </mc:AlternateContent>
          </a:graphicData>
        </a:graphic>
      </p:graphicFrame>
      <p:sp>
        <p:nvSpPr>
          <p:cNvPr id="6" name="Content Placeholder 5"/>
          <p:cNvSpPr>
            <a:spLocks noGrp="1"/>
          </p:cNvSpPr>
          <p:nvPr>
            <p:ph sz="quarter" idx="15"/>
          </p:nvPr>
        </p:nvSpPr>
        <p:spPr>
          <a:xfrm>
            <a:off x="5868989" y="2143610"/>
            <a:ext cx="1632857" cy="448292"/>
          </a:xfrm>
        </p:spPr>
        <p:txBody>
          <a:bodyPr lIns="0" tIns="0" rIns="0" bIns="0"/>
          <a:lstStyle/>
          <a:p>
            <a:pPr marL="432" indent="0">
              <a:buNone/>
            </a:pPr>
            <a:r>
              <a:rPr lang="en-US" dirty="0"/>
              <a:t>operators</a:t>
            </a:r>
          </a:p>
        </p:txBody>
      </p:sp>
      <p:sp>
        <p:nvSpPr>
          <p:cNvPr id="7" name="Content Placeholder 6"/>
          <p:cNvSpPr>
            <a:spLocks noGrp="1"/>
          </p:cNvSpPr>
          <p:nvPr>
            <p:ph sz="quarter" idx="16"/>
          </p:nvPr>
        </p:nvSpPr>
        <p:spPr>
          <a:xfrm>
            <a:off x="457200" y="2688444"/>
            <a:ext cx="8229600" cy="1959756"/>
          </a:xfrm>
        </p:spPr>
        <p:txBody>
          <a:bodyPr/>
          <a:lstStyle/>
          <a:p>
            <a:pPr lvl="1"/>
            <a:r>
              <a:rPr lang="en-US" dirty="0">
                <a:latin typeface="Courier New" panose="02070309020205020404" pitchFamily="49" charset="0"/>
                <a:cs typeface="Courier New" panose="02070309020205020404" pitchFamily="49" charset="0"/>
              </a:rPr>
              <a:t>++vPtr;</a:t>
            </a:r>
          </a:p>
          <a:p>
            <a:pPr lvl="1"/>
            <a:r>
              <a:rPr lang="en-US" dirty="0">
                <a:latin typeface="Courier New" panose="02070309020205020404" pitchFamily="49" charset="0"/>
                <a:cs typeface="Courier New" panose="02070309020205020404" pitchFamily="49" charset="0"/>
              </a:rPr>
              <a:t>vPtr++;</a:t>
            </a:r>
          </a:p>
          <a:p>
            <a:pPr lvl="1"/>
            <a:r>
              <a:rPr lang="en-US" dirty="0">
                <a:latin typeface="Courier New" panose="02070309020205020404" pitchFamily="49" charset="0"/>
                <a:cs typeface="Courier New" panose="02070309020205020404" pitchFamily="49" charset="0"/>
              </a:rPr>
              <a:t>−−vPtr;</a:t>
            </a:r>
          </a:p>
          <a:p>
            <a:pPr lvl="1"/>
            <a:r>
              <a:rPr lang="en-US" dirty="0">
                <a:latin typeface="Courier New" panose="02070309020205020404" pitchFamily="49" charset="0"/>
                <a:cs typeface="Courier New" panose="02070309020205020404" pitchFamily="49" charset="0"/>
              </a:rPr>
              <a:t>vPtr−−;</a:t>
            </a:r>
          </a:p>
        </p:txBody>
      </p:sp>
    </p:spTree>
    <p:extLst>
      <p:ext uri="{BB962C8B-B14F-4D97-AF65-F5344CB8AC3E}">
        <p14:creationId xmlns:p14="http://schemas.microsoft.com/office/powerpoint/2010/main" val="14334930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7.8.6 Subtracting One Pointer From Another</a:t>
            </a:r>
          </a:p>
        </p:txBody>
      </p:sp>
      <p:sp>
        <p:nvSpPr>
          <p:cNvPr id="3" name="Content Placeholder 2"/>
          <p:cNvSpPr>
            <a:spLocks noGrp="1"/>
          </p:cNvSpPr>
          <p:nvPr>
            <p:ph sz="quarter" idx="13"/>
          </p:nvPr>
        </p:nvSpPr>
        <p:spPr/>
        <p:txBody>
          <a:bodyPr/>
          <a:lstStyle/>
          <a:p>
            <a:r>
              <a:rPr lang="en-US" dirty="0"/>
              <a:t>If </a:t>
            </a:r>
            <a:r>
              <a:rPr lang="en-US" dirty="0">
                <a:latin typeface="Courier New" panose="02070309020205020404" pitchFamily="49" charset="0"/>
                <a:cs typeface="Courier New" panose="02070309020205020404" pitchFamily="49" charset="0"/>
              </a:rPr>
              <a:t>vPtr</a:t>
            </a:r>
            <a:r>
              <a:rPr lang="en-US" dirty="0"/>
              <a:t> contains the location </a:t>
            </a:r>
            <a:r>
              <a:rPr lang="en-US" dirty="0">
                <a:latin typeface="Courier New" panose="02070309020205020404" pitchFamily="49" charset="0"/>
                <a:cs typeface="Courier New" panose="02070309020205020404" pitchFamily="49" charset="0"/>
              </a:rPr>
              <a:t>3000</a:t>
            </a:r>
            <a:r>
              <a:rPr lang="en-US" dirty="0"/>
              <a:t> and </a:t>
            </a:r>
            <a:r>
              <a:rPr lang="en-US" dirty="0">
                <a:latin typeface="Courier New" panose="02070309020205020404" pitchFamily="49" charset="0"/>
                <a:cs typeface="Courier New" panose="02070309020205020404" pitchFamily="49" charset="0"/>
              </a:rPr>
              <a:t>v2Ptr</a:t>
            </a:r>
            <a:r>
              <a:rPr lang="en-US" dirty="0"/>
              <a:t> contains the address </a:t>
            </a:r>
            <a:r>
              <a:rPr lang="en-US" dirty="0">
                <a:latin typeface="Courier New" panose="02070309020205020404" pitchFamily="49" charset="0"/>
                <a:cs typeface="Courier New" panose="02070309020205020404" pitchFamily="49" charset="0"/>
              </a:rPr>
              <a:t>3008</a:t>
            </a:r>
            <a:r>
              <a:rPr lang="en-US" dirty="0"/>
              <a:t>, the following statement assigns to </a:t>
            </a:r>
            <a:r>
              <a:rPr lang="en-US" dirty="0">
                <a:latin typeface="Courier New" panose="02070309020205020404" pitchFamily="49" charset="0"/>
                <a:cs typeface="Courier New" panose="02070309020205020404" pitchFamily="49" charset="0"/>
              </a:rPr>
              <a:t>x</a:t>
            </a:r>
            <a:r>
              <a:rPr lang="en-US" dirty="0"/>
              <a:t> the </a:t>
            </a:r>
            <a:r>
              <a:rPr lang="en-US" b="1" dirty="0"/>
              <a:t>number of array elements</a:t>
            </a:r>
            <a:r>
              <a:rPr lang="en-US" dirty="0"/>
              <a:t> between </a:t>
            </a:r>
            <a:r>
              <a:rPr lang="en-US" dirty="0">
                <a:latin typeface="Courier New" panose="02070309020205020404" pitchFamily="49" charset="0"/>
                <a:cs typeface="Courier New" panose="02070309020205020404" pitchFamily="49" charset="0"/>
              </a:rPr>
              <a:t>vPtr</a:t>
            </a:r>
            <a:r>
              <a:rPr lang="en-US" dirty="0"/>
              <a:t> and </a:t>
            </a:r>
            <a:r>
              <a:rPr lang="en-US" dirty="0">
                <a:latin typeface="Courier New" panose="02070309020205020404" pitchFamily="49" charset="0"/>
                <a:cs typeface="Courier New" panose="02070309020205020404" pitchFamily="49" charset="0"/>
              </a:rPr>
              <a:t>v2Ptr</a:t>
            </a:r>
            <a:r>
              <a:rPr lang="en-US" dirty="0"/>
              <a:t>, in this case, </a:t>
            </a:r>
            <a:r>
              <a:rPr lang="en-US" dirty="0">
                <a:latin typeface="Courier New" panose="02070309020205020404" pitchFamily="49" charset="0"/>
                <a:cs typeface="Courier New" panose="02070309020205020404" pitchFamily="49" charset="0"/>
              </a:rPr>
              <a:t>2</a:t>
            </a:r>
            <a:r>
              <a:rPr lang="en-US" dirty="0"/>
              <a:t> (not </a:t>
            </a:r>
            <a:r>
              <a:rPr lang="en-US" dirty="0">
                <a:latin typeface="Courier New" panose="02070309020205020404" pitchFamily="49" charset="0"/>
                <a:cs typeface="Courier New" panose="02070309020205020404" pitchFamily="49" charset="0"/>
              </a:rPr>
              <a:t>8</a:t>
            </a:r>
            <a:r>
              <a:rPr lang="en-US" dirty="0"/>
              <a:t>).</a:t>
            </a:r>
          </a:p>
          <a:p>
            <a:pPr lvl="1"/>
            <a:r>
              <a:rPr lang="en-US" dirty="0">
                <a:latin typeface="Courier New" panose="02070309020205020404" pitchFamily="49" charset="0"/>
                <a:cs typeface="Courier New" panose="02070309020205020404" pitchFamily="49" charset="0"/>
              </a:rPr>
              <a:t>x = v2Ptr - vPtr;</a:t>
            </a:r>
          </a:p>
          <a:p>
            <a:r>
              <a:rPr lang="en-US" dirty="0"/>
              <a:t>Pointer arithmetic is undefined unless performed on elements of the same array</a:t>
            </a:r>
          </a:p>
          <a:p>
            <a:r>
              <a:rPr lang="en-US" dirty="0"/>
              <a:t>We cannot assume that two variables of the same type are stored side-by-side in memory unless they’re adjacent elements of an array</a:t>
            </a:r>
          </a:p>
        </p:txBody>
      </p:sp>
    </p:spTree>
    <p:extLst>
      <p:ext uri="{BB962C8B-B14F-4D97-AF65-F5344CB8AC3E}">
        <p14:creationId xmlns:p14="http://schemas.microsoft.com/office/powerpoint/2010/main" val="16272020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7.8.7 Assigning Pointers to One Another</a:t>
            </a:r>
          </a:p>
        </p:txBody>
      </p:sp>
      <p:sp>
        <p:nvSpPr>
          <p:cNvPr id="3" name="Content Placeholder 2"/>
          <p:cNvSpPr>
            <a:spLocks noGrp="1"/>
          </p:cNvSpPr>
          <p:nvPr>
            <p:ph sz="quarter" idx="13"/>
          </p:nvPr>
        </p:nvSpPr>
        <p:spPr/>
        <p:txBody>
          <a:bodyPr/>
          <a:lstStyle/>
          <a:p>
            <a:r>
              <a:rPr lang="en-US" dirty="0"/>
              <a:t>Pointers of the same type may be assigned to one another</a:t>
            </a:r>
          </a:p>
          <a:p>
            <a:r>
              <a:rPr lang="en-US" dirty="0"/>
              <a:t>This rule’s exception is a </a:t>
            </a:r>
            <a:r>
              <a:rPr lang="en-US" b="1" dirty="0"/>
              <a:t>pointer to void</a:t>
            </a:r>
            <a:r>
              <a:rPr lang="en-US" dirty="0"/>
              <a:t> (i.e., </a:t>
            </a:r>
            <a:r>
              <a:rPr lang="en-US" b="1" dirty="0">
                <a:latin typeface="Courier New" panose="02070309020205020404" pitchFamily="49" charset="0"/>
                <a:cs typeface="Courier New" panose="02070309020205020404" pitchFamily="49" charset="0"/>
              </a:rPr>
              <a:t>void</a:t>
            </a:r>
            <a:r>
              <a:rPr lang="en-US" dirty="0">
                <a:latin typeface="Consolas" panose="020B0609020204030204" pitchFamily="49" charset="0"/>
                <a:cs typeface="Consolas" panose="020B0609020204030204" pitchFamily="49" charset="0"/>
              </a:rPr>
              <a:t> </a:t>
            </a:r>
            <a:r>
              <a:rPr lang="en-US" b="1" dirty="0">
                <a:latin typeface="Courier New" panose="02070309020205020404" pitchFamily="49" charset="0"/>
                <a:cs typeface="Courier New" panose="02070309020205020404" pitchFamily="49" charset="0"/>
              </a:rPr>
              <a:t>*</a:t>
            </a:r>
            <a:r>
              <a:rPr lang="en-US" dirty="0"/>
              <a:t>)—a generic pointer that can represent </a:t>
            </a:r>
            <a:r>
              <a:rPr lang="en-US" b="1" dirty="0"/>
              <a:t>any</a:t>
            </a:r>
            <a:r>
              <a:rPr lang="en-US" dirty="0"/>
              <a:t> pointer type</a:t>
            </a:r>
          </a:p>
          <a:p>
            <a:r>
              <a:rPr lang="en-US" dirty="0"/>
              <a:t>All pointer types can be assigned to a </a:t>
            </a:r>
            <a:r>
              <a:rPr lang="en-US" dirty="0">
                <a:latin typeface="Courier New" panose="02070309020205020404" pitchFamily="49" charset="0"/>
                <a:cs typeface="Courier New" panose="02070309020205020404" pitchFamily="49" charset="0"/>
              </a:rPr>
              <a:t>void</a:t>
            </a:r>
            <a:r>
              <a:rPr lang="en-US" dirty="0">
                <a:latin typeface="Consolas" panose="020B0609020204030204" pitchFamily="49" charset="0"/>
                <a:cs typeface="Consolas" panose="020B0609020204030204" pitchFamily="49" charset="0"/>
              </a:rPr>
              <a:t> </a:t>
            </a:r>
            <a:r>
              <a:rPr lang="en-US" dirty="0">
                <a:latin typeface="Courier New" panose="02070309020205020404" pitchFamily="49" charset="0"/>
                <a:cs typeface="Courier New" panose="02070309020205020404" pitchFamily="49" charset="0"/>
              </a:rPr>
              <a:t>*</a:t>
            </a:r>
            <a:r>
              <a:rPr lang="en-US" dirty="0"/>
              <a:t>, and a </a:t>
            </a:r>
            <a:r>
              <a:rPr lang="en-US" dirty="0">
                <a:latin typeface="Courier New" panose="02070309020205020404" pitchFamily="49" charset="0"/>
                <a:cs typeface="Courier New" panose="02070309020205020404" pitchFamily="49" charset="0"/>
              </a:rPr>
              <a:t>void</a:t>
            </a:r>
            <a:r>
              <a:rPr lang="en-US" dirty="0">
                <a:latin typeface="Consolas" panose="020B0609020204030204" pitchFamily="49" charset="0"/>
                <a:cs typeface="Consolas" panose="020B0609020204030204" pitchFamily="49" charset="0"/>
              </a:rPr>
              <a:t> </a:t>
            </a:r>
            <a:r>
              <a:rPr lang="en-US" dirty="0">
                <a:latin typeface="Courier New" panose="02070309020205020404" pitchFamily="49" charset="0"/>
                <a:cs typeface="Courier New" panose="02070309020205020404" pitchFamily="49" charset="0"/>
              </a:rPr>
              <a:t>*</a:t>
            </a:r>
            <a:r>
              <a:rPr lang="en-US" dirty="0"/>
              <a:t> can be assigned a pointer of any type (including another </a:t>
            </a:r>
            <a:r>
              <a:rPr lang="en-US" dirty="0">
                <a:latin typeface="Courier New" panose="02070309020205020404" pitchFamily="49" charset="0"/>
                <a:cs typeface="Courier New" panose="02070309020205020404" pitchFamily="49" charset="0"/>
              </a:rPr>
              <a:t>void</a:t>
            </a:r>
            <a:r>
              <a:rPr lang="en-US" dirty="0">
                <a:latin typeface="Consolas" panose="020B0609020204030204" pitchFamily="49" charset="0"/>
                <a:cs typeface="Consolas" panose="020B0609020204030204" pitchFamily="49" charset="0"/>
              </a:rPr>
              <a:t> </a:t>
            </a:r>
            <a:r>
              <a:rPr lang="en-US" dirty="0">
                <a:latin typeface="Courier New" panose="02070309020205020404" pitchFamily="49" charset="0"/>
                <a:cs typeface="Courier New" panose="02070309020205020404" pitchFamily="49" charset="0"/>
              </a:rPr>
              <a:t>*</a:t>
            </a:r>
            <a:r>
              <a:rPr lang="en-US" dirty="0"/>
              <a:t>)</a:t>
            </a:r>
          </a:p>
          <a:p>
            <a:r>
              <a:rPr lang="en-US" dirty="0"/>
              <a:t>A cast operation is </a:t>
            </a:r>
            <a:r>
              <a:rPr lang="en-US" b="1" dirty="0"/>
              <a:t>not</a:t>
            </a:r>
            <a:r>
              <a:rPr lang="en-US" dirty="0"/>
              <a:t> required</a:t>
            </a:r>
          </a:p>
        </p:txBody>
      </p:sp>
    </p:spTree>
    <p:extLst>
      <p:ext uri="{BB962C8B-B14F-4D97-AF65-F5344CB8AC3E}">
        <p14:creationId xmlns:p14="http://schemas.microsoft.com/office/powerpoint/2010/main" val="37610516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7.8.8 Pointer to void </a:t>
            </a:r>
          </a:p>
        </p:txBody>
      </p:sp>
      <p:sp>
        <p:nvSpPr>
          <p:cNvPr id="3" name="Content Placeholder 2"/>
          <p:cNvSpPr>
            <a:spLocks noGrp="1"/>
          </p:cNvSpPr>
          <p:nvPr>
            <p:ph sz="quarter" idx="13"/>
          </p:nvPr>
        </p:nvSpPr>
        <p:spPr/>
        <p:txBody>
          <a:bodyPr/>
          <a:lstStyle/>
          <a:p>
            <a:r>
              <a:rPr lang="en-US" dirty="0"/>
              <a:t>A pointer to </a:t>
            </a:r>
            <a:r>
              <a:rPr lang="en-US" dirty="0">
                <a:latin typeface="Courier New" panose="02070309020205020404" pitchFamily="49" charset="0"/>
                <a:cs typeface="Courier New" panose="02070309020205020404" pitchFamily="49" charset="0"/>
              </a:rPr>
              <a:t>void</a:t>
            </a:r>
            <a:r>
              <a:rPr lang="en-US" dirty="0"/>
              <a:t> </a:t>
            </a:r>
            <a:r>
              <a:rPr lang="en-US" b="1" dirty="0"/>
              <a:t>cannot</a:t>
            </a:r>
            <a:r>
              <a:rPr lang="en-US" dirty="0"/>
              <a:t> be dereferenced</a:t>
            </a:r>
          </a:p>
          <a:p>
            <a:r>
              <a:rPr lang="en-US" dirty="0"/>
              <a:t>A </a:t>
            </a:r>
            <a:r>
              <a:rPr lang="en-US" dirty="0">
                <a:latin typeface="Courier New" panose="02070309020205020404" pitchFamily="49" charset="0"/>
                <a:cs typeface="Courier New" panose="02070309020205020404" pitchFamily="49" charset="0"/>
              </a:rPr>
              <a:t>void</a:t>
            </a:r>
            <a:r>
              <a:rPr lang="en-US" dirty="0"/>
              <a:t> </a:t>
            </a:r>
            <a:r>
              <a:rPr lang="en-US" dirty="0">
                <a:latin typeface="Courier New" panose="02070309020205020404" pitchFamily="49" charset="0"/>
                <a:cs typeface="Courier New" panose="02070309020205020404" pitchFamily="49" charset="0"/>
              </a:rPr>
              <a:t>*</a:t>
            </a:r>
            <a:r>
              <a:rPr lang="en-US" dirty="0"/>
              <a:t> contains a memory location for an </a:t>
            </a:r>
            <a:r>
              <a:rPr lang="en-US" b="1" dirty="0"/>
              <a:t>unknown</a:t>
            </a:r>
            <a:r>
              <a:rPr lang="en-US" dirty="0"/>
              <a:t> type</a:t>
            </a:r>
          </a:p>
          <a:p>
            <a:pPr lvl="1"/>
            <a:r>
              <a:rPr lang="en-US" dirty="0"/>
              <a:t>Number of bytes to which the pointer refers is </a:t>
            </a:r>
            <a:r>
              <a:rPr lang="en-US" b="1" dirty="0"/>
              <a:t>not</a:t>
            </a:r>
            <a:r>
              <a:rPr lang="en-US" dirty="0"/>
              <a:t> known </a:t>
            </a:r>
          </a:p>
          <a:p>
            <a:r>
              <a:rPr lang="en-US" dirty="0"/>
              <a:t>The compiler </a:t>
            </a:r>
            <a:r>
              <a:rPr lang="en-US" b="1" dirty="0"/>
              <a:t>must</a:t>
            </a:r>
            <a:r>
              <a:rPr lang="en-US" dirty="0"/>
              <a:t> know the type to determine the number of bytes that represent the referenced value</a:t>
            </a:r>
          </a:p>
          <a:p>
            <a:r>
              <a:rPr lang="en-US" b="1" dirty="0"/>
              <a:t>Dereferencing a void * pointer is a syntax error</a:t>
            </a:r>
          </a:p>
        </p:txBody>
      </p:sp>
    </p:spTree>
    <p:extLst>
      <p:ext uri="{BB962C8B-B14F-4D97-AF65-F5344CB8AC3E}">
        <p14:creationId xmlns:p14="http://schemas.microsoft.com/office/powerpoint/2010/main" val="38139589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7.8.9 Comparing Pointers</a:t>
            </a:r>
          </a:p>
        </p:txBody>
      </p:sp>
      <p:sp>
        <p:nvSpPr>
          <p:cNvPr id="3" name="Content Placeholder 2"/>
          <p:cNvSpPr>
            <a:spLocks noGrp="1"/>
          </p:cNvSpPr>
          <p:nvPr>
            <p:ph sz="quarter" idx="13"/>
          </p:nvPr>
        </p:nvSpPr>
        <p:spPr/>
        <p:txBody>
          <a:bodyPr/>
          <a:lstStyle/>
          <a:p>
            <a:r>
              <a:rPr lang="en-US" dirty="0"/>
              <a:t>You can compare pointers using equality and relational operators</a:t>
            </a:r>
          </a:p>
          <a:p>
            <a:r>
              <a:rPr lang="en-US" dirty="0"/>
              <a:t>Meaningful only if the pointers point to elements of the same array </a:t>
            </a:r>
          </a:p>
          <a:p>
            <a:r>
              <a:rPr lang="en-US" dirty="0"/>
              <a:t>Otherwise, such comparisons are logic errors</a:t>
            </a:r>
          </a:p>
          <a:p>
            <a:r>
              <a:rPr lang="en-US" dirty="0"/>
              <a:t>A common use of pointer comparison is determining whether a pointer is NULL</a:t>
            </a:r>
          </a:p>
        </p:txBody>
      </p:sp>
    </p:spTree>
    <p:extLst>
      <p:ext uri="{BB962C8B-B14F-4D97-AF65-F5344CB8AC3E}">
        <p14:creationId xmlns:p14="http://schemas.microsoft.com/office/powerpoint/2010/main" val="32545586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7.9 Relationship Between Pointers and Arrays</a:t>
            </a:r>
          </a:p>
        </p:txBody>
      </p:sp>
      <p:sp>
        <p:nvSpPr>
          <p:cNvPr id="3" name="Content Placeholder 2"/>
          <p:cNvSpPr>
            <a:spLocks noGrp="1"/>
          </p:cNvSpPr>
          <p:nvPr>
            <p:ph sz="quarter" idx="13"/>
          </p:nvPr>
        </p:nvSpPr>
        <p:spPr/>
        <p:txBody>
          <a:bodyPr/>
          <a:lstStyle/>
          <a:p>
            <a:r>
              <a:rPr lang="en-US" sz="2000" dirty="0"/>
              <a:t>Arrays and pointers often may be used interchangeably</a:t>
            </a:r>
          </a:p>
          <a:p>
            <a:r>
              <a:rPr lang="en-US" sz="2000" dirty="0"/>
              <a:t>Think of an </a:t>
            </a:r>
            <a:r>
              <a:rPr lang="en-US" sz="2000" b="1" dirty="0"/>
              <a:t>array name</a:t>
            </a:r>
            <a:r>
              <a:rPr lang="en-US" sz="2000" dirty="0"/>
              <a:t> as a </a:t>
            </a:r>
            <a:r>
              <a:rPr lang="en-US" sz="2000" b="1" dirty="0"/>
              <a:t>constant pointer </a:t>
            </a:r>
            <a:r>
              <a:rPr lang="en-US" sz="2000" dirty="0"/>
              <a:t>to the first element</a:t>
            </a:r>
          </a:p>
          <a:p>
            <a:r>
              <a:rPr lang="en-US" sz="2000" dirty="0"/>
              <a:t>Pointers can be used to do any operation involving array subscripting</a:t>
            </a:r>
          </a:p>
          <a:p>
            <a:r>
              <a:rPr lang="en-US" sz="2000" dirty="0">
                <a:latin typeface="Courier New" panose="02070309020205020404" pitchFamily="49" charset="0"/>
                <a:cs typeface="Courier New" panose="02070309020205020404" pitchFamily="49" charset="0"/>
              </a:rPr>
              <a:t>int b[5];</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int *bPtr;</a:t>
            </a:r>
          </a:p>
          <a:p>
            <a:pPr lvl="1"/>
            <a:r>
              <a:rPr lang="en-US" sz="2000" dirty="0"/>
              <a:t>The array name </a:t>
            </a:r>
            <a:r>
              <a:rPr lang="en-US" sz="2000" dirty="0">
                <a:latin typeface="Courier New" panose="02070309020205020404" pitchFamily="49" charset="0"/>
                <a:cs typeface="Courier New" panose="02070309020205020404" pitchFamily="49" charset="0"/>
              </a:rPr>
              <a:t>b</a:t>
            </a:r>
            <a:r>
              <a:rPr lang="en-US" sz="2000" dirty="0"/>
              <a:t> is a pointer to the array’s first element</a:t>
            </a:r>
          </a:p>
          <a:p>
            <a:pPr lvl="1"/>
            <a:r>
              <a:rPr lang="en-US" sz="2000" dirty="0"/>
              <a:t>Can set </a:t>
            </a:r>
            <a:r>
              <a:rPr lang="en-US" sz="2000" dirty="0">
                <a:latin typeface="Courier New" panose="02070309020205020404" pitchFamily="49" charset="0"/>
                <a:cs typeface="Courier New" panose="02070309020205020404" pitchFamily="49" charset="0"/>
              </a:rPr>
              <a:t>bPtr</a:t>
            </a:r>
            <a:r>
              <a:rPr lang="en-US" sz="2000" dirty="0"/>
              <a:t> to the address of the array </a:t>
            </a:r>
            <a:r>
              <a:rPr lang="en-US" sz="2000" dirty="0">
                <a:latin typeface="Courier New" panose="02070309020205020404" pitchFamily="49" charset="0"/>
                <a:cs typeface="Courier New" panose="02070309020205020404" pitchFamily="49" charset="0"/>
              </a:rPr>
              <a:t>b</a:t>
            </a:r>
            <a:r>
              <a:rPr lang="en-US" sz="2000" dirty="0"/>
              <a:t>’s first element with the statement:</a:t>
            </a:r>
          </a:p>
          <a:p>
            <a:pPr lvl="2"/>
            <a:r>
              <a:rPr lang="en-US" sz="2000" dirty="0">
                <a:latin typeface="Courier New" panose="02070309020205020404" pitchFamily="49" charset="0"/>
                <a:cs typeface="Courier New" panose="02070309020205020404" pitchFamily="49" charset="0"/>
              </a:rPr>
              <a:t>bPtr = b;</a:t>
            </a:r>
          </a:p>
          <a:p>
            <a:pPr lvl="1"/>
            <a:r>
              <a:rPr lang="en-US" sz="2000" dirty="0"/>
              <a:t>Equivalent to taking the address of array </a:t>
            </a:r>
            <a:r>
              <a:rPr lang="en-US" sz="2000" dirty="0">
                <a:latin typeface="Courier New" panose="02070309020205020404" pitchFamily="49" charset="0"/>
                <a:cs typeface="Courier New" panose="02070309020205020404" pitchFamily="49" charset="0"/>
              </a:rPr>
              <a:t>b</a:t>
            </a:r>
            <a:r>
              <a:rPr lang="en-US" sz="2000" dirty="0"/>
              <a:t>’s first element:</a:t>
            </a:r>
          </a:p>
          <a:p>
            <a:pPr lvl="2"/>
            <a:r>
              <a:rPr lang="en-US" sz="2000" dirty="0">
                <a:latin typeface="Courier New" panose="02070309020205020404" pitchFamily="49" charset="0"/>
                <a:cs typeface="Courier New" panose="02070309020205020404" pitchFamily="49" charset="0"/>
              </a:rPr>
              <a:t>bPtr = &amp;b[0];</a:t>
            </a:r>
          </a:p>
        </p:txBody>
      </p:sp>
    </p:spTree>
    <p:extLst>
      <p:ext uri="{BB962C8B-B14F-4D97-AF65-F5344CB8AC3E}">
        <p14:creationId xmlns:p14="http://schemas.microsoft.com/office/powerpoint/2010/main" val="11671757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7.9.1 Pointer/Offset Notation</a:t>
            </a:r>
          </a:p>
        </p:txBody>
      </p:sp>
      <p:sp>
        <p:nvSpPr>
          <p:cNvPr id="3" name="Content Placeholder 2"/>
          <p:cNvSpPr>
            <a:spLocks noGrp="1"/>
          </p:cNvSpPr>
          <p:nvPr>
            <p:ph sz="quarter" idx="13"/>
          </p:nvPr>
        </p:nvSpPr>
        <p:spPr>
          <a:xfrm>
            <a:off x="457200" y="1556326"/>
            <a:ext cx="8229600" cy="4739971"/>
          </a:xfrm>
        </p:spPr>
        <p:txBody>
          <a:bodyPr/>
          <a:lstStyle/>
          <a:p>
            <a:r>
              <a:rPr lang="en-US" dirty="0">
                <a:latin typeface="Courier New" panose="02070309020205020404" pitchFamily="49" charset="0"/>
                <a:cs typeface="Courier New" panose="02070309020205020404" pitchFamily="49" charset="0"/>
              </a:rPr>
              <a:t>b[3]</a:t>
            </a:r>
            <a:r>
              <a:rPr lang="en-US" dirty="0"/>
              <a:t> can alternatively be referenced with the pointer expression</a:t>
            </a:r>
          </a:p>
          <a:p>
            <a:pPr lvl="1"/>
            <a:r>
              <a:rPr lang="en-US" dirty="0">
                <a:latin typeface="Courier New" panose="02070309020205020404" pitchFamily="49" charset="0"/>
                <a:cs typeface="Courier New" panose="02070309020205020404" pitchFamily="49" charset="0"/>
              </a:rPr>
              <a:t>*(bPtr + 3)</a:t>
            </a:r>
          </a:p>
          <a:p>
            <a:r>
              <a:rPr lang="en-US" dirty="0"/>
              <a:t>The 3 in the expression is the </a:t>
            </a:r>
            <a:r>
              <a:rPr lang="en-US" b="1" dirty="0"/>
              <a:t>offset</a:t>
            </a:r>
            <a:r>
              <a:rPr lang="en-US" dirty="0"/>
              <a:t> to the pointer</a:t>
            </a:r>
          </a:p>
          <a:p>
            <a:r>
              <a:rPr lang="en-US" dirty="0"/>
              <a:t>When </a:t>
            </a:r>
            <a:r>
              <a:rPr lang="en-US" dirty="0">
                <a:latin typeface="Courier New" panose="02070309020205020404" pitchFamily="49" charset="0"/>
                <a:cs typeface="Courier New" panose="02070309020205020404" pitchFamily="49" charset="0"/>
              </a:rPr>
              <a:t>bPtr</a:t>
            </a:r>
            <a:r>
              <a:rPr lang="en-US" dirty="0"/>
              <a:t> points to the array’s first element, the offset indicates which array element to reference</a:t>
            </a:r>
          </a:p>
          <a:p>
            <a:pPr lvl="1"/>
            <a:r>
              <a:rPr lang="en-US" dirty="0"/>
              <a:t>Offset’s value is identical to the array subscript</a:t>
            </a:r>
          </a:p>
          <a:p>
            <a:r>
              <a:rPr lang="en-US" dirty="0"/>
              <a:t>Referred to as </a:t>
            </a:r>
            <a:r>
              <a:rPr lang="en-US" b="1" dirty="0"/>
              <a:t>pointer/offset notation</a:t>
            </a:r>
            <a:endParaRPr lang="en-US" dirty="0"/>
          </a:p>
          <a:p>
            <a:r>
              <a:rPr lang="en-US" dirty="0"/>
              <a:t>Parentheses are required because the precedence of * is </a:t>
            </a:r>
            <a:r>
              <a:rPr lang="en-US" b="1" dirty="0"/>
              <a:t>higher</a:t>
            </a:r>
            <a:r>
              <a:rPr lang="en-US" dirty="0"/>
              <a:t> than that of +</a:t>
            </a:r>
          </a:p>
        </p:txBody>
      </p:sp>
    </p:spTree>
    <p:extLst>
      <p:ext uri="{BB962C8B-B14F-4D97-AF65-F5344CB8AC3E}">
        <p14:creationId xmlns:p14="http://schemas.microsoft.com/office/powerpoint/2010/main" val="30520811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7.9.2 Pointer/Subscript Notation</a:t>
            </a:r>
          </a:p>
        </p:txBody>
      </p:sp>
      <p:sp>
        <p:nvSpPr>
          <p:cNvPr id="3" name="Content Placeholder 2"/>
          <p:cNvSpPr>
            <a:spLocks noGrp="1"/>
          </p:cNvSpPr>
          <p:nvPr>
            <p:ph sz="quarter" idx="13"/>
          </p:nvPr>
        </p:nvSpPr>
        <p:spPr>
          <a:xfrm>
            <a:off x="457199" y="1556327"/>
            <a:ext cx="8334103" cy="4586896"/>
          </a:xfrm>
        </p:spPr>
        <p:txBody>
          <a:bodyPr/>
          <a:lstStyle/>
          <a:p>
            <a:r>
              <a:rPr lang="en-US" dirty="0"/>
              <a:t>Pointers can be subscripted like arrays</a:t>
            </a:r>
          </a:p>
          <a:p>
            <a:r>
              <a:rPr lang="en-US" dirty="0"/>
              <a:t>If </a:t>
            </a:r>
            <a:r>
              <a:rPr lang="en-US" dirty="0">
                <a:latin typeface="Courier New" panose="02070309020205020404" pitchFamily="49" charset="0"/>
                <a:cs typeface="Courier New" panose="02070309020205020404" pitchFamily="49" charset="0"/>
              </a:rPr>
              <a:t>bPtr</a:t>
            </a:r>
            <a:r>
              <a:rPr lang="en-US" dirty="0"/>
              <a:t> has the value </a:t>
            </a:r>
            <a:r>
              <a:rPr lang="en-US" dirty="0">
                <a:latin typeface="Courier New" panose="02070309020205020404" pitchFamily="49" charset="0"/>
                <a:cs typeface="Courier New" panose="02070309020205020404" pitchFamily="49" charset="0"/>
              </a:rPr>
              <a:t>b</a:t>
            </a:r>
            <a:r>
              <a:rPr lang="en-US" dirty="0"/>
              <a:t>, the following expression refers to the array element </a:t>
            </a:r>
            <a:r>
              <a:rPr lang="en-US" dirty="0">
                <a:latin typeface="Courier New" panose="02070309020205020404" pitchFamily="49" charset="0"/>
                <a:cs typeface="Courier New" panose="02070309020205020404" pitchFamily="49" charset="0"/>
              </a:rPr>
              <a:t>b[1]</a:t>
            </a:r>
          </a:p>
          <a:p>
            <a:pPr lvl="1"/>
            <a:r>
              <a:rPr lang="en-US" dirty="0">
                <a:latin typeface="Courier New" panose="02070309020205020404" pitchFamily="49" charset="0"/>
                <a:cs typeface="Courier New" panose="02070309020205020404" pitchFamily="49" charset="0"/>
              </a:rPr>
              <a:t>bPtr[1]</a:t>
            </a:r>
          </a:p>
          <a:p>
            <a:r>
              <a:rPr lang="en-US" dirty="0"/>
              <a:t>Referred to as </a:t>
            </a:r>
            <a:r>
              <a:rPr lang="en-US" b="1" dirty="0"/>
              <a:t>pointer/subscript notation</a:t>
            </a:r>
            <a:r>
              <a:rPr lang="en-US" dirty="0"/>
              <a:t>.</a:t>
            </a:r>
          </a:p>
        </p:txBody>
      </p:sp>
    </p:spTree>
    <p:extLst>
      <p:ext uri="{BB962C8B-B14F-4D97-AF65-F5344CB8AC3E}">
        <p14:creationId xmlns:p14="http://schemas.microsoft.com/office/powerpoint/2010/main" val="231925991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7.10 Arrays of Pointers </a:t>
            </a:r>
            <a:r>
              <a:rPr lang="en-US" sz="2000" b="0" dirty="0"/>
              <a:t>(1 of 2)</a:t>
            </a:r>
          </a:p>
        </p:txBody>
      </p:sp>
      <p:sp>
        <p:nvSpPr>
          <p:cNvPr id="3" name="Content Placeholder 2"/>
          <p:cNvSpPr>
            <a:spLocks noGrp="1"/>
          </p:cNvSpPr>
          <p:nvPr>
            <p:ph sz="quarter" idx="13"/>
          </p:nvPr>
        </p:nvSpPr>
        <p:spPr>
          <a:xfrm>
            <a:off x="457199" y="1556327"/>
            <a:ext cx="8425543" cy="4586896"/>
          </a:xfrm>
        </p:spPr>
        <p:txBody>
          <a:bodyPr/>
          <a:lstStyle/>
          <a:p>
            <a:r>
              <a:rPr lang="en-US" sz="1800" dirty="0"/>
              <a:t>Arrays may contain pointers</a:t>
            </a:r>
          </a:p>
          <a:p>
            <a:pPr lvl="1"/>
            <a:r>
              <a:rPr lang="en-US" sz="1800" dirty="0"/>
              <a:t>Commonly for </a:t>
            </a:r>
            <a:r>
              <a:rPr lang="en-US" sz="1800" b="1" dirty="0"/>
              <a:t>array of strings</a:t>
            </a:r>
            <a:r>
              <a:rPr lang="en-US" sz="1800" dirty="0"/>
              <a:t>, referred to simply as a </a:t>
            </a:r>
            <a:r>
              <a:rPr lang="en-US" sz="1800" b="1" dirty="0"/>
              <a:t>string array</a:t>
            </a:r>
            <a:endParaRPr lang="en-US" sz="1800" dirty="0"/>
          </a:p>
          <a:p>
            <a:r>
              <a:rPr lang="en-US" sz="1800" dirty="0"/>
              <a:t>Each element in a C string is essentially a pointer to its first character</a:t>
            </a:r>
          </a:p>
          <a:p>
            <a:r>
              <a:rPr lang="en-US" sz="1800" dirty="0">
                <a:latin typeface="Courier New" panose="02070309020205020404" pitchFamily="49" charset="0"/>
                <a:cs typeface="Courier New" panose="02070309020205020404" pitchFamily="49" charset="0"/>
              </a:rPr>
              <a:t>const char *suit[4] = {"Hearts", "Diamonds", "Clubs", "Spades"};</a:t>
            </a:r>
          </a:p>
          <a:p>
            <a:pPr lvl="1"/>
            <a:r>
              <a:rPr lang="en-US" sz="1800" dirty="0"/>
              <a:t>The </a:t>
            </a:r>
            <a:r>
              <a:rPr lang="en-US" sz="1800" dirty="0">
                <a:latin typeface="Courier New" panose="02070309020205020404" pitchFamily="49" charset="0"/>
                <a:cs typeface="Courier New" panose="02070309020205020404" pitchFamily="49" charset="0"/>
              </a:rPr>
              <a:t>char</a:t>
            </a:r>
            <a:r>
              <a:rPr lang="en-US" sz="1800" dirty="0">
                <a:latin typeface="Consolas" panose="020B0609020204030204" pitchFamily="49" charset="0"/>
                <a:cs typeface="Consolas" panose="020B0609020204030204" pitchFamily="49" charset="0"/>
              </a:rPr>
              <a:t> </a:t>
            </a:r>
            <a:r>
              <a:rPr lang="en-US" sz="1800" dirty="0">
                <a:latin typeface="Courier New" panose="02070309020205020404" pitchFamily="49" charset="0"/>
                <a:cs typeface="Courier New" panose="02070309020205020404" pitchFamily="49" charset="0"/>
              </a:rPr>
              <a:t>*</a:t>
            </a:r>
            <a:r>
              <a:rPr lang="en-US" sz="1800" dirty="0"/>
              <a:t> indicates that each suit element is of type “pointer to </a:t>
            </a:r>
            <a:r>
              <a:rPr lang="en-US" sz="1800" dirty="0">
                <a:latin typeface="Courier New" panose="02070309020205020404" pitchFamily="49" charset="0"/>
                <a:cs typeface="Courier New" panose="02070309020205020404" pitchFamily="49" charset="0"/>
              </a:rPr>
              <a:t>char</a:t>
            </a:r>
            <a:r>
              <a:rPr lang="en-US" sz="1800" dirty="0"/>
              <a:t>.” </a:t>
            </a:r>
          </a:p>
          <a:p>
            <a:pPr lvl="1"/>
            <a:r>
              <a:rPr lang="en-US" sz="1800" dirty="0">
                <a:latin typeface="Courier New" panose="02070309020205020404" pitchFamily="49" charset="0"/>
                <a:cs typeface="Courier New" panose="02070309020205020404" pitchFamily="49" charset="0"/>
              </a:rPr>
              <a:t>const</a:t>
            </a:r>
            <a:r>
              <a:rPr lang="en-US" sz="1800" dirty="0"/>
              <a:t> indicates that the string each element points to cannot be modified</a:t>
            </a:r>
          </a:p>
          <a:p>
            <a:pPr lvl="1"/>
            <a:r>
              <a:rPr lang="en-US" sz="1800" dirty="0"/>
              <a:t>"Hearts", "Diamonds", "Clubs" and "Spades" are placed into the array</a:t>
            </a:r>
          </a:p>
          <a:p>
            <a:pPr lvl="1"/>
            <a:r>
              <a:rPr lang="en-US" sz="1800" dirty="0"/>
              <a:t>Each is stored in memory as a </a:t>
            </a:r>
            <a:r>
              <a:rPr lang="en-US" sz="1800" b="1" dirty="0"/>
              <a:t>null-terminated character string</a:t>
            </a:r>
            <a:r>
              <a:rPr lang="en-US" sz="1800" dirty="0"/>
              <a:t> that’s one character longer than the number of characters in the quotes</a:t>
            </a:r>
          </a:p>
        </p:txBody>
      </p:sp>
    </p:spTree>
    <p:extLst>
      <p:ext uri="{BB962C8B-B14F-4D97-AF65-F5344CB8AC3E}">
        <p14:creationId xmlns:p14="http://schemas.microsoft.com/office/powerpoint/2010/main" val="125198632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7.10 Arrays of Pointers </a:t>
            </a:r>
            <a:r>
              <a:rPr lang="en-US" sz="2000" b="0" dirty="0"/>
              <a:t>(2 of 2)</a:t>
            </a:r>
            <a:endParaRPr lang="en-US" dirty="0"/>
          </a:p>
        </p:txBody>
      </p:sp>
      <p:sp>
        <p:nvSpPr>
          <p:cNvPr id="4" name="Content Placeholder 3"/>
          <p:cNvSpPr>
            <a:spLocks noGrp="1"/>
          </p:cNvSpPr>
          <p:nvPr>
            <p:ph sz="quarter" idx="13"/>
          </p:nvPr>
        </p:nvSpPr>
        <p:spPr>
          <a:xfrm>
            <a:off x="457200" y="1556327"/>
            <a:ext cx="8347166" cy="899490"/>
          </a:xfrm>
        </p:spPr>
        <p:txBody>
          <a:bodyPr/>
          <a:lstStyle/>
          <a:p>
            <a:r>
              <a:rPr lang="en-US" dirty="0"/>
              <a:t>Only pointers are actually stored in the array, as shown in the following diagram</a:t>
            </a:r>
          </a:p>
        </p:txBody>
      </p:sp>
      <p:pic>
        <p:nvPicPr>
          <p:cNvPr id="6" name="Content Placeholder 5" descr="The figure illustrates an array of pointers. For long description in Notes pane, press F6."/>
          <p:cNvPicPr>
            <a:picLocks noGrp="1" noChangeAspect="1"/>
          </p:cNvPicPr>
          <p:nvPr>
            <p:ph sz="quarter" idx="14"/>
          </p:nvPr>
        </p:nvPicPr>
        <p:blipFill>
          <a:blip r:embed="rId3">
            <a:extLst>
              <a:ext uri="{28A0092B-C50C-407E-A947-70E740481C1C}">
                <a14:useLocalDpi xmlns:a14="http://schemas.microsoft.com/office/drawing/2010/main" val="0"/>
              </a:ext>
            </a:extLst>
          </a:blip>
          <a:stretch>
            <a:fillRect/>
          </a:stretch>
        </p:blipFill>
        <p:spPr>
          <a:xfrm>
            <a:off x="522515" y="2887714"/>
            <a:ext cx="8229600" cy="2078892"/>
          </a:xfrm>
        </p:spPr>
      </p:pic>
    </p:spTree>
    <p:extLst>
      <p:ext uri="{BB962C8B-B14F-4D97-AF65-F5344CB8AC3E}">
        <p14:creationId xmlns:p14="http://schemas.microsoft.com/office/powerpoint/2010/main" val="374648283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7.12 Function Pointers</a:t>
            </a:r>
          </a:p>
        </p:txBody>
      </p:sp>
      <p:sp>
        <p:nvSpPr>
          <p:cNvPr id="3" name="Content Placeholder 2"/>
          <p:cNvSpPr>
            <a:spLocks noGrp="1"/>
          </p:cNvSpPr>
          <p:nvPr>
            <p:ph sz="quarter" idx="13"/>
          </p:nvPr>
        </p:nvSpPr>
        <p:spPr>
          <a:xfrm>
            <a:off x="457200" y="1556327"/>
            <a:ext cx="8382000" cy="4586896"/>
          </a:xfrm>
        </p:spPr>
        <p:txBody>
          <a:bodyPr/>
          <a:lstStyle/>
          <a:p>
            <a:r>
              <a:rPr lang="en-US" dirty="0"/>
              <a:t>A function’s name is really the starting address in memory of the code that performs the function’s task</a:t>
            </a:r>
          </a:p>
          <a:p>
            <a:r>
              <a:rPr lang="en-US" dirty="0"/>
              <a:t>A </a:t>
            </a:r>
            <a:r>
              <a:rPr lang="en-US" b="1" dirty="0"/>
              <a:t>pointer to a function</a:t>
            </a:r>
            <a:r>
              <a:rPr lang="en-US" dirty="0"/>
              <a:t> contains the </a:t>
            </a:r>
            <a:r>
              <a:rPr lang="en-US" b="1" dirty="0"/>
              <a:t>address</a:t>
            </a:r>
            <a:r>
              <a:rPr lang="en-US" dirty="0"/>
              <a:t> of the function in memory</a:t>
            </a:r>
          </a:p>
          <a:p>
            <a:r>
              <a:rPr lang="en-US" dirty="0"/>
              <a:t>Pointers to functions can be passed to functions, returned from functions, stored in arrays, assigned to other function pointers of the same type and compared with one another for equality or inequality </a:t>
            </a:r>
          </a:p>
        </p:txBody>
      </p:sp>
    </p:spTree>
    <p:extLst>
      <p:ext uri="{BB962C8B-B14F-4D97-AF65-F5344CB8AC3E}">
        <p14:creationId xmlns:p14="http://schemas.microsoft.com/office/powerpoint/2010/main" val="3812734239"/>
      </p:ext>
    </p:extLst>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151303</TotalTime>
  <Words>4656</Words>
  <Application>Microsoft Office PowerPoint</Application>
  <PresentationFormat>On-screen Show (4:3)</PresentationFormat>
  <Paragraphs>305</Paragraphs>
  <Slides>45</Slides>
  <Notes>16</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45</vt:i4>
      </vt:variant>
    </vt:vector>
  </HeadingPairs>
  <TitlesOfParts>
    <vt:vector size="54" baseType="lpstr">
      <vt:lpstr>Times New Roman</vt:lpstr>
      <vt:lpstr>Courier New</vt:lpstr>
      <vt:lpstr>Verdana</vt:lpstr>
      <vt:lpstr>Consolas</vt:lpstr>
      <vt:lpstr>Arial</vt:lpstr>
      <vt:lpstr>Noto Sans Symbols</vt:lpstr>
      <vt:lpstr>USHE</vt:lpstr>
      <vt:lpstr>USHE_slide options</vt:lpstr>
      <vt:lpstr>Equation</vt:lpstr>
      <vt:lpstr>7.1 Introduction</vt:lpstr>
      <vt:lpstr>7.2 Pointer Variable Definitions and Initialization (1 of 3)</vt:lpstr>
      <vt:lpstr>7.2 Pointer Variable Definitions and Initialization (2 of 3)</vt:lpstr>
      <vt:lpstr>7.2 Pointer Variable Definitions and Initialization (3 of 3)</vt:lpstr>
      <vt:lpstr>7.3 Pointer Operators (1 of 6)</vt:lpstr>
      <vt:lpstr>7.3 Pointer Operators (2 of 6)</vt:lpstr>
      <vt:lpstr>7.3 Pointer Operators (3 of 6)</vt:lpstr>
      <vt:lpstr>7.3 Pointer Operators (4 of 6)</vt:lpstr>
      <vt:lpstr>7.3 Pointer Operators (5 of 6)</vt:lpstr>
      <vt:lpstr>7.3 Pointer Operators (6 of 6)</vt:lpstr>
      <vt:lpstr>7.4 Passing Arguments to Functions by Reference (1 of 18)</vt:lpstr>
      <vt:lpstr>7.4 Passing Arguments to Functions by Reference (2 of 18)</vt:lpstr>
      <vt:lpstr>7.4 Passing Arguments to Functions by Reference (3 of 18)</vt:lpstr>
      <vt:lpstr>7.4 Passing Arguments to Functions by Reference (4 of 18)</vt:lpstr>
      <vt:lpstr>7.4 Passing Arguments to Functions by Reference (5 of 18)</vt:lpstr>
      <vt:lpstr>7.4 Passing Arguments to Functions by Reference (6 of 18)</vt:lpstr>
      <vt:lpstr>7.4 Passing Arguments to Functions by Reference (7 of 18)</vt:lpstr>
      <vt:lpstr>7.4 Passing Arguments to Functions by Reference (8 of 18)</vt:lpstr>
      <vt:lpstr>7.4 Passing Arguments to Functions by Reference (9 of 18)</vt:lpstr>
      <vt:lpstr>7.4 Passing Arguments to Functions by Reference (10 of 18)</vt:lpstr>
      <vt:lpstr>7.4 Passing Arguments to Functions by Reference (11 of 18)</vt:lpstr>
      <vt:lpstr>7.4 Passing Arguments to Functions by Reference (12 of 18)</vt:lpstr>
      <vt:lpstr>7.4 Passing Arguments to Functions by Reference (13 of 18)</vt:lpstr>
      <vt:lpstr>7.4 Passing Arguments to Functions by Reference (14 of 18)</vt:lpstr>
      <vt:lpstr>7.4 Passing Arguments to Functions by Reference (15 of 18)</vt:lpstr>
      <vt:lpstr>7.4 Passing Arguments to Functions by Reference (16 of 18)</vt:lpstr>
      <vt:lpstr>7.4 Passing Arguments to Functions by Reference (17 of 18)</vt:lpstr>
      <vt:lpstr>7.4 Passing Arguments to Functions by Reference (18 of 18)</vt:lpstr>
      <vt:lpstr>7.7 sizeof Operator (1 of 8)</vt:lpstr>
      <vt:lpstr>7.8 Pointer Expressions and Pointer Arithmetic</vt:lpstr>
      <vt:lpstr>7.8.1 Pointer Arithmetic Operators</vt:lpstr>
      <vt:lpstr>7.8.2 Aiming a Pointer at an Array</vt:lpstr>
      <vt:lpstr>7.8.3 Adding an Integer to a Pointer</vt:lpstr>
      <vt:lpstr>7.8.4 Subtracting an Integer From a Pointer</vt:lpstr>
      <vt:lpstr>7.8.5 Incrementing and Decrementing a Pointer</vt:lpstr>
      <vt:lpstr>7.8.6 Subtracting One Pointer From Another</vt:lpstr>
      <vt:lpstr>7.8.7 Assigning Pointers to One Another</vt:lpstr>
      <vt:lpstr>7.8.8 Pointer to void </vt:lpstr>
      <vt:lpstr>7.8.9 Comparing Pointers</vt:lpstr>
      <vt:lpstr>7.9 Relationship Between Pointers and Arrays</vt:lpstr>
      <vt:lpstr>7.9.1 Pointer/Offset Notation</vt:lpstr>
      <vt:lpstr>7.9.2 Pointer/Subscript Notation</vt:lpstr>
      <vt:lpstr>7.10 Arrays of Pointers (1 of 2)</vt:lpstr>
      <vt:lpstr>7.10 Arrays of Pointers (2 of 2)</vt:lpstr>
      <vt:lpstr>7.12 Function Pointers</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 How to Program, Ninth Edition, Chapter 7, Pointers</dc:title>
  <dc:subject>STEMS</dc:subject>
  <dc:creator>Deitel/Deitel</dc:creator>
  <cp:keywords>C How to Program</cp:keywords>
  <dc:description>This deck contains code snippets and screen reader users may need to increase verbosity levels; Long description alt-text is inserted in the notes pane.</dc:description>
  <cp:lastModifiedBy>Subhendu Bhadra</cp:lastModifiedBy>
  <cp:revision>1492</cp:revision>
  <dcterms:modified xsi:type="dcterms:W3CDTF">2023-12-05T19:32:26Z</dcterms:modified>
</cp:coreProperties>
</file>